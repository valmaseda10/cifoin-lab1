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66" r:id="rId1"/>
  </p:sldMasterIdLst>
  <p:notesMasterIdLst>
    <p:notesMasterId r:id="rId21"/>
  </p:notesMasterIdLst>
  <p:handoutMasterIdLst>
    <p:handoutMasterId r:id="rId22"/>
  </p:handoutMasterIdLst>
  <p:sldIdLst>
    <p:sldId id="256" r:id="rId2"/>
    <p:sldId id="295" r:id="rId3"/>
    <p:sldId id="290" r:id="rId4"/>
    <p:sldId id="298" r:id="rId5"/>
    <p:sldId id="299" r:id="rId6"/>
    <p:sldId id="300" r:id="rId7"/>
    <p:sldId id="291" r:id="rId8"/>
    <p:sldId id="301" r:id="rId9"/>
    <p:sldId id="292" r:id="rId10"/>
    <p:sldId id="302" r:id="rId11"/>
    <p:sldId id="297" r:id="rId12"/>
    <p:sldId id="306" r:id="rId13"/>
    <p:sldId id="307" r:id="rId14"/>
    <p:sldId id="308" r:id="rId15"/>
    <p:sldId id="293" r:id="rId16"/>
    <p:sldId id="303" r:id="rId17"/>
    <p:sldId id="304" r:id="rId18"/>
    <p:sldId id="305" r:id="rId19"/>
    <p:sldId id="288" r:id="rId2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5033" autoAdjust="0"/>
  </p:normalViewPr>
  <p:slideViewPr>
    <p:cSldViewPr>
      <p:cViewPr varScale="1">
        <p:scale>
          <a:sx n="72" d="100"/>
          <a:sy n="72" d="100"/>
        </p:scale>
        <p:origin x="660" y="6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10/03/2026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10/03/2026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6" name="Slide Number Placeholder 5"/>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25206114"/>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6" name="Slide Number Placeholder 5"/>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308688711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6" name="Slide Number Placeholder 5"/>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150150182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7" name="Slide Number Placeholder 6"/>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228621384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9" name="Slide Number Placeholder 8"/>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392792336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5" name="Slide Number Placeholder 4"/>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5049598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4" name="Slide Number Placeholder 3"/>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40832604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7" name="Slide Number Placeholder 6"/>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94421604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7" name="Slide Number Placeholder 6"/>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71886652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7" name="Slide Number Placeholder 6"/>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244812830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7" name="Slide Number Placeholder 6"/>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2761237469"/>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7" name="Slide Number Placeholder 6"/>
          <p:cNvSpPr>
            <a:spLocks noGrp="1"/>
          </p:cNvSpPr>
          <p:nvPr>
            <p:ph type="sldNum" sz="quarter" idx="12"/>
          </p:nvPr>
        </p:nvSpPr>
        <p:spPr/>
        <p:txBody>
          <a:bodyPr/>
          <a:lstStyle/>
          <a:p>
            <a:fld id="{B6F15528-21DE-4FAA-801E-634DDDAF4B2B}" type="slidenum">
              <a:rPr lang="es-ES" smtClean="0"/>
              <a:t>‹Nº›</a:t>
            </a:fld>
            <a:endParaRPr lang="es-E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0647562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7" name="Slide Number Placeholder 6"/>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1993579512"/>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5" name="Slide Number Placeholder 4"/>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151651745"/>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5" name="Slide Number Placeholder 4"/>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1671776289"/>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6" name="Slide Number Placeholder 5"/>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129977518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marL="12700">
              <a:lnSpc>
                <a:spcPct val="100000"/>
              </a:lnSpc>
              <a:spcBef>
                <a:spcPts val="15"/>
              </a:spcBef>
            </a:pPr>
            <a:r>
              <a:rPr lang="es-ES" spc="-5"/>
              <a:t>LAB 1.0 WAVEGUIDES</a:t>
            </a:r>
            <a:endParaRPr lang="es-ES" spc="-5" dirty="0"/>
          </a:p>
        </p:txBody>
      </p:sp>
      <p:sp>
        <p:nvSpPr>
          <p:cNvPr id="6" name="Slide Number Placeholder 5"/>
          <p:cNvSpPr>
            <a:spLocks noGrp="1"/>
          </p:cNvSpPr>
          <p:nvPr>
            <p:ph type="sldNum" sz="quarter" idx="12"/>
          </p:nvPr>
        </p:nvSpPr>
        <p:spPr/>
        <p:txBody>
          <a:bodyPr/>
          <a:lstStyle/>
          <a:p>
            <a:fld id="{B6F15528-21DE-4FAA-801E-634DDDAF4B2B}" type="slidenum">
              <a:rPr lang="es-ES" smtClean="0"/>
              <a:t>‹Nº›</a:t>
            </a:fld>
            <a:endParaRPr lang="es-ES"/>
          </a:p>
        </p:txBody>
      </p:sp>
    </p:spTree>
    <p:extLst>
      <p:ext uri="{BB962C8B-B14F-4D97-AF65-F5344CB8AC3E}">
        <p14:creationId xmlns:p14="http://schemas.microsoft.com/office/powerpoint/2010/main" val="157603243"/>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extLst>
      <p:ext uri="{BB962C8B-B14F-4D97-AF65-F5344CB8AC3E}">
        <p14:creationId xmlns:p14="http://schemas.microsoft.com/office/powerpoint/2010/main" val="103866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7794921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extLst>
      <p:ext uri="{BB962C8B-B14F-4D97-AF65-F5344CB8AC3E}">
        <p14:creationId xmlns:p14="http://schemas.microsoft.com/office/powerpoint/2010/main" val="71579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pPr marL="12700">
              <a:lnSpc>
                <a:spcPct val="100000"/>
              </a:lnSpc>
              <a:spcBef>
                <a:spcPts val="15"/>
              </a:spcBef>
            </a:pPr>
            <a:r>
              <a:rPr lang="es-ES" spc="-5"/>
              <a:t>LAB 1.0 WAVEGUIDES</a:t>
            </a:r>
            <a:endParaRPr lang="es-ES" spc="-5"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6F15528-21DE-4FAA-801E-634DDDAF4B2B}" type="slidenum">
              <a:rPr lang="es-ES" smtClean="0"/>
              <a:t>‹Nº›</a:t>
            </a:fld>
            <a:endParaRPr lang="es-ES"/>
          </a:p>
        </p:txBody>
      </p:sp>
    </p:spTree>
    <p:extLst>
      <p:ext uri="{BB962C8B-B14F-4D97-AF65-F5344CB8AC3E}">
        <p14:creationId xmlns:p14="http://schemas.microsoft.com/office/powerpoint/2010/main" val="219501891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Lst>
  <p:hf hd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4.png"/><Relationship Id="rId7"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NULL"/><Relationship Id="rId10" Type="http://schemas.openxmlformats.org/officeDocument/2006/relationships/image" Target="../media/image15.png"/><Relationship Id="rId4" Type="http://schemas.openxmlformats.org/officeDocument/2006/relationships/image" Target="../media/image5.sv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9.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579646"/>
          </a:xfrm>
          <a:prstGeom prst="rect">
            <a:avLst/>
          </a:prstGeom>
        </p:spPr>
        <p:txBody>
          <a:bodyPr vert="horz" wrap="square" lIns="0" tIns="12700" rIns="0" bIns="0" rtlCol="0">
            <a:spAutoFit/>
          </a:bodyPr>
          <a:lstStyle/>
          <a:p>
            <a:pPr marL="12700">
              <a:lnSpc>
                <a:spcPct val="100000"/>
              </a:lnSpc>
              <a:spcBef>
                <a:spcPts val="100"/>
              </a:spcBef>
            </a:pPr>
            <a:r>
              <a:rPr lang="es-ES" b="1" spc="165" dirty="0" err="1">
                <a:latin typeface="Arial"/>
                <a:cs typeface="Arial"/>
              </a:rPr>
              <a:t>Students</a:t>
            </a:r>
            <a:r>
              <a:rPr lang="es-ES" b="1" spc="165" dirty="0">
                <a:latin typeface="Arial"/>
                <a:cs typeface="Arial"/>
              </a:rPr>
              <a:t>: Jorge Martín De Valmaseda Sánchez</a:t>
            </a:r>
          </a:p>
          <a:p>
            <a:pPr marL="12700">
              <a:lnSpc>
                <a:spcPct val="100000"/>
              </a:lnSpc>
              <a:spcBef>
                <a:spcPts val="100"/>
              </a:spcBef>
            </a:pPr>
            <a:r>
              <a:rPr lang="es-ES" sz="1800" b="1" spc="165" dirty="0">
                <a:latin typeface="Arial"/>
                <a:cs typeface="Arial"/>
              </a:rPr>
              <a:t>		</a:t>
            </a:r>
            <a:r>
              <a:rPr lang="es-ES" b="1" spc="165" dirty="0">
                <a:latin typeface="Arial"/>
                <a:cs typeface="Arial"/>
              </a:rPr>
              <a:t>  	Javier Prieto Llano</a:t>
            </a:r>
            <a:endParaRPr sz="1800" b="1"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2" y="1163263"/>
            <a:ext cx="4725988" cy="446314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lvl="1" algn="just"/>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7284289" y="842549"/>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8128585" y="1403381"/>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7472655" y="163053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8366329" y="1193069"/>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8886267" y="952354"/>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8366329" y="1403381"/>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10365512" y="1757877"/>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9351423" y="2676695"/>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materials, output, results.</a:t>
            </a:r>
          </a:p>
          <a:p>
            <a:pPr marL="342900" indent="-342900" algn="just">
              <a:buFont typeface="Arial" panose="020B0604020202020204" pitchFamily="34" charset="0"/>
              <a:buChar char="•"/>
            </a:pPr>
            <a:r>
              <a:rPr lang="en-US" sz="2000" dirty="0"/>
              <a:t>Explain how to run a simulation for a particular cross-section. </a:t>
            </a:r>
          </a:p>
          <a:p>
            <a:pPr marL="342900" indent="-342900" algn="just">
              <a:buFont typeface="Arial" panose="020B0604020202020204" pitchFamily="34" charset="0"/>
              <a:buChar char="•"/>
            </a:pPr>
            <a:r>
              <a:rPr lang="en-US" sz="2000" dirty="0"/>
              <a:t>Showcase how to change between shallow and deep waveguide.</a:t>
            </a:r>
          </a:p>
          <a:p>
            <a:pPr marL="342900" indent="-342900" algn="just">
              <a:buFont typeface="Arial" panose="020B0604020202020204" pitchFamily="34" charset="0"/>
              <a:buChar char="•"/>
            </a:pPr>
            <a:r>
              <a:rPr lang="en-US" sz="2000" dirty="0"/>
              <a:t>Describe how to change the wavelength and width for the waveguide analysis.</a:t>
            </a:r>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85800" y="4123917"/>
            <a:ext cx="11199971" cy="223138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r>
              <a:rPr lang="en-US" sz="1300" dirty="0" err="1">
                <a:latin typeface="Arial" panose="020B0604020202020204" pitchFamily="34" charset="0"/>
                <a:cs typeface="Arial" panose="020B0604020202020204" pitchFamily="34" charset="0"/>
              </a:rPr>
              <a:t>Hemos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configurado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una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guía</a:t>
            </a:r>
            <a:r>
              <a:rPr lang="en-US" sz="1300" dirty="0">
                <a:latin typeface="Arial" panose="020B0604020202020204" pitchFamily="34" charset="0"/>
                <a:cs typeface="Arial" panose="020B0604020202020204" pitchFamily="34" charset="0"/>
              </a:rPr>
              <a:t> profunda (deep) con un ancho de 1’2 </a:t>
            </a:r>
            <a:r>
              <a:rPr lang="en-US" sz="1300" dirty="0" err="1">
                <a:latin typeface="Arial" panose="020B0604020202020204" pitchFamily="34" charset="0"/>
                <a:cs typeface="Arial" panose="020B0604020202020204" pitchFamily="34" charset="0"/>
              </a:rPr>
              <a:t>micrómetros</a:t>
            </a:r>
            <a:r>
              <a:rPr lang="en-US" sz="1300" dirty="0">
                <a:latin typeface="Arial" panose="020B0604020202020204" pitchFamily="34" charset="0"/>
                <a:cs typeface="Arial" panose="020B0604020202020204" pitchFamily="34" charset="0"/>
              </a:rPr>
              <a:t> x 300 </a:t>
            </a:r>
            <a:r>
              <a:rPr lang="en-US" sz="1300" dirty="0" err="1">
                <a:latin typeface="Arial" panose="020B0604020202020204" pitchFamily="34" charset="0"/>
                <a:cs typeface="Arial" panose="020B0604020202020204" pitchFamily="34" charset="0"/>
              </a:rPr>
              <a:t>nanómetros</a:t>
            </a:r>
            <a:r>
              <a:rPr lang="en-US" sz="1300" dirty="0">
                <a:latin typeface="Arial" panose="020B0604020202020204" pitchFamily="34" charset="0"/>
                <a:cs typeface="Arial" panose="020B0604020202020204" pitchFamily="34" charset="0"/>
              </a:rPr>
              <a:t> de alto y con </a:t>
            </a:r>
            <a:r>
              <a:rPr lang="en-US" sz="1300" dirty="0" err="1">
                <a:latin typeface="Arial" panose="020B0604020202020204" pitchFamily="34" charset="0"/>
                <a:cs typeface="Arial" panose="020B0604020202020204" pitchFamily="34" charset="0"/>
              </a:rPr>
              <a:t>una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longitud</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onda</a:t>
            </a:r>
            <a:r>
              <a:rPr lang="en-US" sz="1300" dirty="0">
                <a:latin typeface="Arial" panose="020B0604020202020204" pitchFamily="34" charset="0"/>
                <a:cs typeface="Arial" panose="020B0604020202020204" pitchFamily="34" charset="0"/>
              </a:rPr>
              <a:t> de 1550 </a:t>
            </a:r>
            <a:r>
              <a:rPr lang="en-US" sz="1300" dirty="0" err="1">
                <a:latin typeface="Arial" panose="020B0604020202020204" pitchFamily="34" charset="0"/>
                <a:cs typeface="Arial" panose="020B0604020202020204" pitchFamily="34" charset="0"/>
              </a:rPr>
              <a:t>nanómetros</a:t>
            </a:r>
            <a:r>
              <a:rPr lang="en-US" sz="1300" dirty="0">
                <a:latin typeface="Arial" panose="020B0604020202020204" pitchFamily="34" charset="0"/>
                <a:cs typeface="Arial" panose="020B0604020202020204" pitchFamily="34" charset="0"/>
              </a:rPr>
              <a:t>, que se </a:t>
            </a:r>
            <a:r>
              <a:rPr lang="en-US" sz="1300" dirty="0" err="1">
                <a:latin typeface="Arial" panose="020B0604020202020204" pitchFamily="34" charset="0"/>
                <a:cs typeface="Arial" panose="020B0604020202020204" pitchFamily="34" charset="0"/>
              </a:rPr>
              <a:t>corresponde</a:t>
            </a:r>
            <a:r>
              <a:rPr lang="en-US" sz="1300" dirty="0">
                <a:latin typeface="Arial" panose="020B0604020202020204" pitchFamily="34" charset="0"/>
                <a:cs typeface="Arial" panose="020B0604020202020204" pitchFamily="34" charset="0"/>
              </a:rPr>
              <a:t> con la </a:t>
            </a:r>
            <a:r>
              <a:rPr lang="en-US" sz="1300" dirty="0" err="1">
                <a:latin typeface="Arial" panose="020B0604020202020204" pitchFamily="34" charset="0"/>
                <a:cs typeface="Arial" panose="020B0604020202020204" pitchFamily="34" charset="0"/>
              </a:rPr>
              <a:t>tercera</a:t>
            </a:r>
            <a:r>
              <a:rPr lang="en-US" sz="1300" dirty="0">
                <a:latin typeface="Arial" panose="020B0604020202020204" pitchFamily="34" charset="0"/>
                <a:cs typeface="Arial" panose="020B0604020202020204" pitchFamily="34" charset="0"/>
              </a:rPr>
              <a:t> Ventana de Comunicaciones.</a:t>
            </a:r>
          </a:p>
          <a:p>
            <a:pPr algn="just"/>
            <a:endParaRPr lang="en-US" sz="1300" dirty="0">
              <a:latin typeface="Arial" panose="020B0604020202020204" pitchFamily="34" charset="0"/>
              <a:cs typeface="Arial" panose="020B0604020202020204" pitchFamily="34" charset="0"/>
            </a:endParaRPr>
          </a:p>
          <a:p>
            <a:pPr algn="just"/>
            <a:r>
              <a:rPr lang="en-US" sz="1300" dirty="0">
                <a:latin typeface="Arial" panose="020B0604020202020204" pitchFamily="34" charset="0"/>
                <a:cs typeface="Arial" panose="020B0604020202020204" pitchFamily="34" charset="0"/>
              </a:rPr>
              <a:t>Los 4 </a:t>
            </a:r>
            <a:r>
              <a:rPr lang="en-US" sz="1300" dirty="0" err="1">
                <a:latin typeface="Arial" panose="020B0604020202020204" pitchFamily="34" charset="0"/>
                <a:cs typeface="Arial" panose="020B0604020202020204" pitchFamily="34" charset="0"/>
              </a:rPr>
              <a:t>modos</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propagación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encontrados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han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sido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los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siguientes</a:t>
            </a:r>
            <a:r>
              <a:rPr lang="en-US" sz="1300" dirty="0">
                <a:latin typeface="Arial" panose="020B0604020202020204" pitchFamily="34" charset="0"/>
                <a:cs typeface="Arial" panose="020B0604020202020204" pitchFamily="34" charset="0"/>
              </a:rPr>
              <a:t>: TE00, TM00, TE10, TM10.</a:t>
            </a:r>
          </a:p>
          <a:p>
            <a:pPr algn="just"/>
            <a:endParaRPr lang="en-US" sz="1200"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n-US" sz="1300" dirty="0">
                <a:latin typeface="Arial" panose="020B0604020202020204" pitchFamily="34" charset="0"/>
                <a:cs typeface="Arial" panose="020B0604020202020204" pitchFamily="34" charset="0"/>
              </a:rPr>
              <a:t>Para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modo TE0 </a:t>
            </a:r>
            <a:r>
              <a:rPr lang="en-US" sz="1300" dirty="0" err="1">
                <a:latin typeface="Arial" panose="020B0604020202020204" pitchFamily="34" charset="0"/>
                <a:cs typeface="Arial" panose="020B0604020202020204" pitchFamily="34" charset="0"/>
              </a:rPr>
              <a:t>hemos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obtenido</a:t>
            </a:r>
            <a:r>
              <a:rPr lang="en-US" sz="1300" dirty="0">
                <a:latin typeface="Arial" panose="020B0604020202020204" pitchFamily="34" charset="0"/>
                <a:cs typeface="Arial" panose="020B0604020202020204" pitchFamily="34" charset="0"/>
              </a:rPr>
              <a:t> un </a:t>
            </a:r>
            <a:r>
              <a:rPr lang="en-US" sz="1300" dirty="0" err="1">
                <a:latin typeface="Arial" panose="020B0604020202020204" pitchFamily="34" charset="0"/>
                <a:cs typeface="Arial" panose="020B0604020202020204" pitchFamily="34" charset="0"/>
              </a:rPr>
              <a:t>índice</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refracción</a:t>
            </a:r>
            <a:r>
              <a:rPr lang="en-US" sz="1300" dirty="0">
                <a:latin typeface="Arial" panose="020B0604020202020204" pitchFamily="34" charset="0"/>
                <a:cs typeface="Arial" panose="020B0604020202020204" pitchFamily="34" charset="0"/>
              </a:rPr>
              <a:t> de 1’6052 + 0’0001j</a:t>
            </a:r>
          </a:p>
          <a:p>
            <a:pPr marL="171450" indent="-171450" algn="just">
              <a:buFont typeface="Arial" panose="020B0604020202020204" pitchFamily="34" charset="0"/>
              <a:buChar char="•"/>
            </a:pPr>
            <a:r>
              <a:rPr lang="en-US" sz="1300" dirty="0">
                <a:latin typeface="Arial" panose="020B0604020202020204" pitchFamily="34" charset="0"/>
                <a:cs typeface="Arial" panose="020B0604020202020204" pitchFamily="34" charset="0"/>
              </a:rPr>
              <a:t>Para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modo TM0 </a:t>
            </a:r>
            <a:r>
              <a:rPr lang="en-US" sz="1300" dirty="0" err="1">
                <a:latin typeface="Arial" panose="020B0604020202020204" pitchFamily="34" charset="0"/>
                <a:cs typeface="Arial" panose="020B0604020202020204" pitchFamily="34" charset="0"/>
              </a:rPr>
              <a:t>hemos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obtenido</a:t>
            </a:r>
            <a:r>
              <a:rPr lang="en-US" sz="1300" dirty="0">
                <a:latin typeface="Arial" panose="020B0604020202020204" pitchFamily="34" charset="0"/>
                <a:cs typeface="Arial" panose="020B0604020202020204" pitchFamily="34" charset="0"/>
              </a:rPr>
              <a:t> un </a:t>
            </a:r>
            <a:r>
              <a:rPr lang="en-US" sz="1300" dirty="0" err="1">
                <a:latin typeface="Arial" panose="020B0604020202020204" pitchFamily="34" charset="0"/>
                <a:cs typeface="Arial" panose="020B0604020202020204" pitchFamily="34" charset="0"/>
              </a:rPr>
              <a:t>índice</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refracción</a:t>
            </a:r>
            <a:r>
              <a:rPr lang="en-US" sz="1300" dirty="0">
                <a:latin typeface="Arial" panose="020B0604020202020204" pitchFamily="34" charset="0"/>
                <a:cs typeface="Arial" panose="020B0604020202020204" pitchFamily="34" charset="0"/>
              </a:rPr>
              <a:t> de 1’528 + 0’00018j	 </a:t>
            </a:r>
          </a:p>
          <a:p>
            <a:pPr marL="171450" indent="-171450" algn="just">
              <a:buFont typeface="Arial" panose="020B0604020202020204" pitchFamily="34" charset="0"/>
              <a:buChar char="•"/>
            </a:pPr>
            <a:r>
              <a:rPr lang="en-US" sz="1300" dirty="0">
                <a:latin typeface="Arial" panose="020B0604020202020204" pitchFamily="34" charset="0"/>
                <a:cs typeface="Arial" panose="020B0604020202020204" pitchFamily="34" charset="0"/>
              </a:rPr>
              <a:t>Para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modo TE10 </a:t>
            </a:r>
            <a:r>
              <a:rPr lang="en-US" sz="1300" dirty="0" err="1">
                <a:latin typeface="Arial" panose="020B0604020202020204" pitchFamily="34" charset="0"/>
                <a:cs typeface="Arial" panose="020B0604020202020204" pitchFamily="34" charset="0"/>
              </a:rPr>
              <a:t>hemos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obtenido</a:t>
            </a:r>
            <a:r>
              <a:rPr lang="en-US" sz="1300" dirty="0">
                <a:latin typeface="Arial" panose="020B0604020202020204" pitchFamily="34" charset="0"/>
                <a:cs typeface="Arial" panose="020B0604020202020204" pitchFamily="34" charset="0"/>
              </a:rPr>
              <a:t> un </a:t>
            </a:r>
            <a:r>
              <a:rPr lang="en-US" sz="1300" dirty="0" err="1">
                <a:latin typeface="Arial" panose="020B0604020202020204" pitchFamily="34" charset="0"/>
                <a:cs typeface="Arial" panose="020B0604020202020204" pitchFamily="34" charset="0"/>
              </a:rPr>
              <a:t>índice</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refracción</a:t>
            </a:r>
            <a:r>
              <a:rPr lang="en-US" sz="1300" dirty="0">
                <a:latin typeface="Arial" panose="020B0604020202020204" pitchFamily="34" charset="0"/>
                <a:cs typeface="Arial" panose="020B0604020202020204" pitchFamily="34" charset="0"/>
              </a:rPr>
              <a:t> de 1’4507 + 0’00019j</a:t>
            </a:r>
          </a:p>
          <a:p>
            <a:pPr marL="171450" indent="-171450" algn="just">
              <a:buFont typeface="Arial" panose="020B0604020202020204" pitchFamily="34" charset="0"/>
              <a:buChar char="•"/>
            </a:pPr>
            <a:r>
              <a:rPr lang="en-US" sz="1300" dirty="0">
                <a:latin typeface="Arial" panose="020B0604020202020204" pitchFamily="34" charset="0"/>
                <a:cs typeface="Arial" panose="020B0604020202020204" pitchFamily="34" charset="0"/>
              </a:rPr>
              <a:t>Para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modo TM10 </a:t>
            </a:r>
            <a:r>
              <a:rPr lang="en-US" sz="1300" dirty="0" err="1">
                <a:latin typeface="Arial" panose="020B0604020202020204" pitchFamily="34" charset="0"/>
                <a:cs typeface="Arial" panose="020B0604020202020204" pitchFamily="34" charset="0"/>
              </a:rPr>
              <a:t>hemos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obtenido</a:t>
            </a:r>
            <a:r>
              <a:rPr lang="en-US" sz="1300" dirty="0">
                <a:latin typeface="Arial" panose="020B0604020202020204" pitchFamily="34" charset="0"/>
                <a:cs typeface="Arial" panose="020B0604020202020204" pitchFamily="34" charset="0"/>
              </a:rPr>
              <a:t> un </a:t>
            </a:r>
            <a:r>
              <a:rPr lang="en-US" sz="1300" dirty="0" err="1">
                <a:latin typeface="Arial" panose="020B0604020202020204" pitchFamily="34" charset="0"/>
                <a:cs typeface="Arial" panose="020B0604020202020204" pitchFamily="34" charset="0"/>
              </a:rPr>
              <a:t>índice</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refracción</a:t>
            </a:r>
            <a:r>
              <a:rPr lang="en-US" sz="1300" dirty="0">
                <a:latin typeface="Arial" panose="020B0604020202020204" pitchFamily="34" charset="0"/>
                <a:cs typeface="Arial" panose="020B0604020202020204" pitchFamily="34" charset="0"/>
              </a:rPr>
              <a:t> de 1’4333 + 0’00022j</a:t>
            </a: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389229-5132-F55F-0630-35859D5B6F27}"/>
              </a:ext>
            </a:extLst>
          </p:cNvPr>
          <p:cNvSpPr>
            <a:spLocks noGrp="1"/>
          </p:cNvSpPr>
          <p:nvPr>
            <p:ph type="title"/>
          </p:nvPr>
        </p:nvSpPr>
        <p:spPr>
          <a:xfrm>
            <a:off x="590550" y="206753"/>
            <a:ext cx="10991850" cy="631448"/>
          </a:xfrm>
        </p:spPr>
        <p:txBody>
          <a:bodyPr>
            <a:noAutofit/>
          </a:bodyPr>
          <a:lstStyle/>
          <a:p>
            <a:r>
              <a:rPr lang="en-US" sz="2500" dirty="0"/>
              <a:t>Learning outcome #1 – Effective index of a waveguide</a:t>
            </a:r>
            <a:br>
              <a:rPr lang="es-ES" sz="2500" spc="-5" dirty="0">
                <a:latin typeface="+mj-lt"/>
                <a:cs typeface="Lucida Sans"/>
              </a:rPr>
            </a:br>
            <a:endParaRPr lang="es-ES" sz="2500" dirty="0"/>
          </a:p>
        </p:txBody>
      </p:sp>
      <p:sp>
        <p:nvSpPr>
          <p:cNvPr id="3" name="Marcador de texto 2">
            <a:extLst>
              <a:ext uri="{FF2B5EF4-FFF2-40B4-BE49-F238E27FC236}">
                <a16:creationId xmlns:a16="http://schemas.microsoft.com/office/drawing/2014/main" id="{E0C001B1-E394-6B0C-80E9-507A758E7E98}"/>
              </a:ext>
            </a:extLst>
          </p:cNvPr>
          <p:cNvSpPr>
            <a:spLocks noGrp="1"/>
          </p:cNvSpPr>
          <p:nvPr>
            <p:ph type="body" idx="1"/>
          </p:nvPr>
        </p:nvSpPr>
        <p:spPr>
          <a:xfrm>
            <a:off x="609600" y="688538"/>
            <a:ext cx="10972800" cy="1762334"/>
          </a:xfrm>
        </p:spPr>
        <p:txBody>
          <a:bodyPr>
            <a:noAutofit/>
          </a:bodyPr>
          <a:lstStyle/>
          <a:p>
            <a:pPr algn="just"/>
            <a:r>
              <a:rPr lang="es-ES" sz="1300" cap="none" dirty="0">
                <a:latin typeface="Arial" panose="020B0604020202020204" pitchFamily="34" charset="0"/>
                <a:cs typeface="Arial" panose="020B0604020202020204" pitchFamily="34" charset="0"/>
              </a:rPr>
              <a:t>Las partes imaginarias de los índices de refracción hacen referencia a las pérdidas que hay en la guía para cada modo. A mayor parte imaginaria más pérdidas, además, el índice de refracción efectivo de cada modo deberá estar comprendido entre los índices de refracción del núcleo y del revestimiento. El núcleo está compuesto por nitruro de silicio (n = 2), mientras que, el revestimiento es de dióxido de silicio (n =1’45). Para conseguir reflexión total interna y que la luz no “escape” de la guía debe ocurrir que: 1’45 &lt;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&lt; 2. Para el modo TM10 la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es menor que el índice de refracción del dióxido de silicio, luego cuando representemos el modo deberemos apreciar como la luz no aparece confinada en un punto, sino que se filtrará y se dispersará a lo largo y ancho de la guía, esto se debe a que no hay reflexión total interna, lo que se traduce en un aumento de las pérdidas, por eso la parte imaginaria del índice de refracción del modo TM10 es mayor que para el resto de los modos.</a:t>
            </a:r>
          </a:p>
        </p:txBody>
      </p:sp>
      <p:sp>
        <p:nvSpPr>
          <p:cNvPr id="4" name="Marcador de pie de página 3">
            <a:extLst>
              <a:ext uri="{FF2B5EF4-FFF2-40B4-BE49-F238E27FC236}">
                <a16:creationId xmlns:a16="http://schemas.microsoft.com/office/drawing/2014/main" id="{DE42DC92-68DF-DDA9-C23C-14BA858DE7D9}"/>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28136415-5B6B-C290-CD18-98BF5A17826C}"/>
              </a:ext>
            </a:extLst>
          </p:cNvPr>
          <p:cNvSpPr>
            <a:spLocks noGrp="1"/>
          </p:cNvSpPr>
          <p:nvPr>
            <p:ph type="sldNum" sz="quarter" idx="7"/>
          </p:nvPr>
        </p:nvSpPr>
        <p:spPr/>
        <p:txBody>
          <a:bodyPr/>
          <a:lstStyle/>
          <a:p>
            <a:fld id="{B6F15528-21DE-4FAA-801E-634DDDAF4B2B}" type="slidenum">
              <a:rPr lang="es-ES" smtClean="0"/>
              <a:t>4</a:t>
            </a:fld>
            <a:endParaRPr lang="es-ES"/>
          </a:p>
        </p:txBody>
      </p:sp>
      <p:pic>
        <p:nvPicPr>
          <p:cNvPr id="9" name="Imagen 8">
            <a:extLst>
              <a:ext uri="{FF2B5EF4-FFF2-40B4-BE49-F238E27FC236}">
                <a16:creationId xmlns:a16="http://schemas.microsoft.com/office/drawing/2014/main" id="{14D3FA25-90E0-AB1D-FA9B-7987AFE051DD}"/>
              </a:ext>
            </a:extLst>
          </p:cNvPr>
          <p:cNvPicPr>
            <a:picLocks noChangeAspect="1"/>
          </p:cNvPicPr>
          <p:nvPr/>
        </p:nvPicPr>
        <p:blipFill>
          <a:blip r:embed="rId2"/>
          <a:stretch>
            <a:fillRect/>
          </a:stretch>
        </p:blipFill>
        <p:spPr>
          <a:xfrm>
            <a:off x="590550" y="2450872"/>
            <a:ext cx="5486400" cy="3686175"/>
          </a:xfrm>
          <a:prstGeom prst="rect">
            <a:avLst/>
          </a:prstGeom>
        </p:spPr>
      </p:pic>
      <p:pic>
        <p:nvPicPr>
          <p:cNvPr id="11" name="Imagen 10">
            <a:extLst>
              <a:ext uri="{FF2B5EF4-FFF2-40B4-BE49-F238E27FC236}">
                <a16:creationId xmlns:a16="http://schemas.microsoft.com/office/drawing/2014/main" id="{FA3913B7-638F-B79C-7B15-913EFE776D8E}"/>
              </a:ext>
            </a:extLst>
          </p:cNvPr>
          <p:cNvPicPr>
            <a:picLocks noChangeAspect="1"/>
          </p:cNvPicPr>
          <p:nvPr/>
        </p:nvPicPr>
        <p:blipFill>
          <a:blip r:embed="rId3"/>
          <a:stretch>
            <a:fillRect/>
          </a:stretch>
        </p:blipFill>
        <p:spPr>
          <a:xfrm>
            <a:off x="6248400" y="2450872"/>
            <a:ext cx="5467350" cy="3686175"/>
          </a:xfrm>
          <a:prstGeom prst="rect">
            <a:avLst/>
          </a:prstGeom>
        </p:spPr>
      </p:pic>
    </p:spTree>
    <p:extLst>
      <p:ext uri="{BB962C8B-B14F-4D97-AF65-F5344CB8AC3E}">
        <p14:creationId xmlns:p14="http://schemas.microsoft.com/office/powerpoint/2010/main" val="3191566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B58E48-B566-A28E-3D1E-14CAA6780232}"/>
              </a:ext>
            </a:extLst>
          </p:cNvPr>
          <p:cNvSpPr>
            <a:spLocks noGrp="1"/>
          </p:cNvSpPr>
          <p:nvPr>
            <p:ph type="title"/>
          </p:nvPr>
        </p:nvSpPr>
        <p:spPr>
          <a:xfrm>
            <a:off x="590550" y="206752"/>
            <a:ext cx="10991850" cy="384721"/>
          </a:xfrm>
        </p:spPr>
        <p:txBody>
          <a:bodyPr/>
          <a:lstStyle/>
          <a:p>
            <a:r>
              <a:rPr lang="en-US" sz="2500" dirty="0"/>
              <a:t>Learning outcome #1 – Effective index of a waveguide</a:t>
            </a:r>
            <a:endParaRPr lang="es-ES" sz="2500" dirty="0"/>
          </a:p>
        </p:txBody>
      </p:sp>
      <p:sp>
        <p:nvSpPr>
          <p:cNvPr id="3" name="Marcador de texto 2">
            <a:extLst>
              <a:ext uri="{FF2B5EF4-FFF2-40B4-BE49-F238E27FC236}">
                <a16:creationId xmlns:a16="http://schemas.microsoft.com/office/drawing/2014/main" id="{6D9B9A08-3937-5637-8AC3-08FB8A763198}"/>
              </a:ext>
            </a:extLst>
          </p:cNvPr>
          <p:cNvSpPr>
            <a:spLocks noGrp="1"/>
          </p:cNvSpPr>
          <p:nvPr>
            <p:ph type="body" idx="1"/>
          </p:nvPr>
        </p:nvSpPr>
        <p:spPr>
          <a:xfrm>
            <a:off x="523875" y="4451865"/>
            <a:ext cx="10972800" cy="1752601"/>
          </a:xfrm>
        </p:spPr>
        <p:txBody>
          <a:bodyPr>
            <a:noAutofit/>
          </a:bodyPr>
          <a:lstStyle/>
          <a:p>
            <a:pPr algn="just"/>
            <a:r>
              <a:rPr lang="es-ES" sz="1300" b="1" cap="none" dirty="0">
                <a:latin typeface="Arial" panose="020B0604020202020204" pitchFamily="34" charset="0"/>
                <a:cs typeface="Arial" panose="020B0604020202020204" pitchFamily="34" charset="0"/>
              </a:rPr>
              <a:t>Para el modo TE00 </a:t>
            </a:r>
            <a:r>
              <a:rPr lang="es-ES" sz="1300" cap="none" dirty="0">
                <a:latin typeface="Arial" panose="020B0604020202020204" pitchFamily="34" charset="0"/>
                <a:cs typeface="Arial" panose="020B0604020202020204" pitchFamily="34" charset="0"/>
              </a:rPr>
              <a:t>el campo eléctrico es completamente horizontal, se puede apreciar un único lóbulo central brillante, esta representación se da de esta manera porque la luz está perfectamente confinada en el centro del núcleo.</a:t>
            </a:r>
          </a:p>
          <a:p>
            <a:pPr algn="just"/>
            <a:r>
              <a:rPr lang="es-ES" sz="1300" b="1" cap="none" dirty="0">
                <a:latin typeface="Arial" panose="020B0604020202020204" pitchFamily="34" charset="0"/>
                <a:cs typeface="Arial" panose="020B0604020202020204" pitchFamily="34" charset="0"/>
              </a:rPr>
              <a:t>Para el modo TM00 </a:t>
            </a:r>
            <a:r>
              <a:rPr lang="es-ES" sz="1300" cap="none" dirty="0">
                <a:latin typeface="Arial" panose="020B0604020202020204" pitchFamily="34" charset="0"/>
                <a:cs typeface="Arial" panose="020B0604020202020204" pitchFamily="34" charset="0"/>
              </a:rPr>
              <a:t>el campo eléctrico es completamente vertical, al ser un modo de orden 0 de nuevo apreciamos un único lóbulo central, en esta ocasión la luz no aparece concentrada exactamente en el centro del núcleo.</a:t>
            </a:r>
          </a:p>
          <a:p>
            <a:pPr algn="just"/>
            <a:r>
              <a:rPr lang="es-ES" sz="1300" b="1" cap="none" dirty="0">
                <a:latin typeface="Arial" panose="020B0604020202020204" pitchFamily="34" charset="0"/>
                <a:cs typeface="Arial" panose="020B0604020202020204" pitchFamily="34" charset="0"/>
              </a:rPr>
              <a:t>Para el modo TE10 </a:t>
            </a:r>
            <a:r>
              <a:rPr lang="es-ES" sz="1300" cap="none" dirty="0">
                <a:latin typeface="Arial" panose="020B0604020202020204" pitchFamily="34" charset="0"/>
                <a:cs typeface="Arial" panose="020B0604020202020204" pitchFamily="34" charset="0"/>
              </a:rPr>
              <a:t>el campo eléctrico es prácticamente horizontal (aunque menos que en el te00), se aprecian 2 lóbulos en el eje horizontal en oposición de fase, el campo es nulo en el centro de la guía.</a:t>
            </a:r>
          </a:p>
          <a:p>
            <a:pPr algn="just"/>
            <a:endParaRPr lang="es-ES" sz="1300" cap="none"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B2B0F484-0573-CD8C-8D8E-098E24CA206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1CC22ABC-EDE6-8886-057D-54F3C8BF1989}"/>
              </a:ext>
            </a:extLst>
          </p:cNvPr>
          <p:cNvSpPr>
            <a:spLocks noGrp="1"/>
          </p:cNvSpPr>
          <p:nvPr>
            <p:ph type="sldNum" sz="quarter" idx="7"/>
          </p:nvPr>
        </p:nvSpPr>
        <p:spPr/>
        <p:txBody>
          <a:bodyPr/>
          <a:lstStyle/>
          <a:p>
            <a:fld id="{B6F15528-21DE-4FAA-801E-634DDDAF4B2B}" type="slidenum">
              <a:rPr lang="es-ES" smtClean="0"/>
              <a:t>5</a:t>
            </a:fld>
            <a:endParaRPr lang="es-ES"/>
          </a:p>
        </p:txBody>
      </p:sp>
      <p:pic>
        <p:nvPicPr>
          <p:cNvPr id="7" name="Imagen 6">
            <a:extLst>
              <a:ext uri="{FF2B5EF4-FFF2-40B4-BE49-F238E27FC236}">
                <a16:creationId xmlns:a16="http://schemas.microsoft.com/office/drawing/2014/main" id="{0474E661-F21F-1F70-EAB2-2A6A2E1BB443}"/>
              </a:ext>
            </a:extLst>
          </p:cNvPr>
          <p:cNvPicPr>
            <a:picLocks noChangeAspect="1"/>
          </p:cNvPicPr>
          <p:nvPr/>
        </p:nvPicPr>
        <p:blipFill>
          <a:blip r:embed="rId2"/>
          <a:srcRect t="2046"/>
          <a:stretch>
            <a:fillRect/>
          </a:stretch>
        </p:blipFill>
        <p:spPr>
          <a:xfrm>
            <a:off x="523875" y="555530"/>
            <a:ext cx="5562600" cy="3648075"/>
          </a:xfrm>
          <a:prstGeom prst="rect">
            <a:avLst/>
          </a:prstGeom>
        </p:spPr>
      </p:pic>
      <p:pic>
        <p:nvPicPr>
          <p:cNvPr id="9" name="Imagen 8">
            <a:extLst>
              <a:ext uri="{FF2B5EF4-FFF2-40B4-BE49-F238E27FC236}">
                <a16:creationId xmlns:a16="http://schemas.microsoft.com/office/drawing/2014/main" id="{F5CE43B7-39AD-C9BB-3448-E070481FD380}"/>
              </a:ext>
            </a:extLst>
          </p:cNvPr>
          <p:cNvPicPr>
            <a:picLocks noChangeAspect="1"/>
          </p:cNvPicPr>
          <p:nvPr/>
        </p:nvPicPr>
        <p:blipFill>
          <a:blip r:embed="rId3"/>
          <a:srcRect t="2935"/>
          <a:stretch>
            <a:fillRect/>
          </a:stretch>
        </p:blipFill>
        <p:spPr>
          <a:xfrm>
            <a:off x="6076950" y="650012"/>
            <a:ext cx="5553075" cy="3540988"/>
          </a:xfrm>
          <a:prstGeom prst="rect">
            <a:avLst/>
          </a:prstGeom>
        </p:spPr>
      </p:pic>
    </p:spTree>
    <p:extLst>
      <p:ext uri="{BB962C8B-B14F-4D97-AF65-F5344CB8AC3E}">
        <p14:creationId xmlns:p14="http://schemas.microsoft.com/office/powerpoint/2010/main" val="20857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AC301-908E-4872-7DC7-39851D624597}"/>
              </a:ext>
            </a:extLst>
          </p:cNvPr>
          <p:cNvSpPr>
            <a:spLocks noGrp="1"/>
          </p:cNvSpPr>
          <p:nvPr>
            <p:ph type="title"/>
          </p:nvPr>
        </p:nvSpPr>
        <p:spPr>
          <a:xfrm>
            <a:off x="590550" y="206752"/>
            <a:ext cx="10991850" cy="384721"/>
          </a:xfrm>
        </p:spPr>
        <p:txBody>
          <a:bodyPr/>
          <a:lstStyle/>
          <a:p>
            <a:r>
              <a:rPr lang="en-US" sz="2500" dirty="0"/>
              <a:t>Learning outcome #1 – Effective index of a waveguide</a:t>
            </a:r>
            <a:endParaRPr lang="es-ES" sz="2500" dirty="0"/>
          </a:p>
        </p:txBody>
      </p:sp>
      <p:sp>
        <p:nvSpPr>
          <p:cNvPr id="3" name="Marcador de texto 2">
            <a:extLst>
              <a:ext uri="{FF2B5EF4-FFF2-40B4-BE49-F238E27FC236}">
                <a16:creationId xmlns:a16="http://schemas.microsoft.com/office/drawing/2014/main" id="{62D60383-6FD8-FADF-3709-3CAAD195F867}"/>
              </a:ext>
            </a:extLst>
          </p:cNvPr>
          <p:cNvSpPr>
            <a:spLocks noGrp="1"/>
          </p:cNvSpPr>
          <p:nvPr>
            <p:ph type="body" idx="1"/>
          </p:nvPr>
        </p:nvSpPr>
        <p:spPr>
          <a:xfrm>
            <a:off x="609600" y="1146721"/>
            <a:ext cx="11125200" cy="5105400"/>
          </a:xfrm>
        </p:spPr>
        <p:txBody>
          <a:bodyPr>
            <a:noAutofit/>
          </a:bodyPr>
          <a:lstStyle/>
          <a:p>
            <a:pPr algn="just"/>
            <a:endParaRPr lang="es-ES" sz="1300" cap="none" dirty="0">
              <a:latin typeface="Arial" panose="020B0604020202020204" pitchFamily="34" charset="0"/>
              <a:cs typeface="Arial" panose="020B0604020202020204" pitchFamily="34" charset="0"/>
            </a:endParaRPr>
          </a:p>
          <a:p>
            <a:pPr algn="just"/>
            <a:r>
              <a:rPr lang="es-ES" sz="1300" b="1" cap="none" dirty="0">
                <a:latin typeface="Arial" panose="020B0604020202020204" pitchFamily="34" charset="0"/>
                <a:cs typeface="Arial" panose="020B0604020202020204" pitchFamily="34" charset="0"/>
              </a:rPr>
              <a:t>Para el modo TM10 </a:t>
            </a:r>
            <a:r>
              <a:rPr lang="es-ES" sz="1300" cap="none" dirty="0">
                <a:latin typeface="Arial" panose="020B0604020202020204" pitchFamily="34" charset="0"/>
                <a:cs typeface="Arial" panose="020B0604020202020204" pitchFamily="34" charset="0"/>
              </a:rPr>
              <a:t>el campo eléctrico es prácticamente vertical (aunque menos que en el tm00), como hemos dicho anteriormente, este modo tiene una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por debajo de la del dióxido de silicio, esto provoca que la luz no se confine en la guía, derivando esta situación en la representación que se aprecia del modo tm10, en la cual no se puede distinguir ningún lóbulo de forma clara, simplemente hay dispersión de la luz.</a:t>
            </a:r>
          </a:p>
          <a:p>
            <a:pPr algn="just"/>
            <a:endParaRPr lang="es-ES" sz="1300" cap="none" dirty="0">
              <a:latin typeface="Arial" panose="020B0604020202020204" pitchFamily="34" charset="0"/>
              <a:cs typeface="Arial" panose="020B0604020202020204" pitchFamily="34" charset="0"/>
            </a:endParaRPr>
          </a:p>
          <a:p>
            <a:pPr algn="just"/>
            <a:r>
              <a:rPr lang="es-ES" sz="1300" cap="none" dirty="0">
                <a:latin typeface="Arial" panose="020B0604020202020204" pitchFamily="34" charset="0"/>
                <a:cs typeface="Arial" panose="020B0604020202020204" pitchFamily="34" charset="0"/>
              </a:rPr>
              <a:t>Hemos calculado la fracción de potencia de cada modo para poder así conocer la polarización.</a:t>
            </a:r>
          </a:p>
          <a:p>
            <a:pPr algn="just"/>
            <a:r>
              <a:rPr lang="es-ES" sz="1300" cap="none" dirty="0">
                <a:latin typeface="Arial" panose="020B0604020202020204" pitchFamily="34" charset="0"/>
                <a:cs typeface="Arial" panose="020B0604020202020204" pitchFamily="34" charset="0"/>
              </a:rPr>
              <a:t>El primer array obtenido nos dice cuanto de transversal eléctrico es cada uno de los modos simulados, el resultado ha sido el siguiente:</a:t>
            </a:r>
          </a:p>
          <a:p>
            <a:pPr algn="just"/>
            <a:r>
              <a:rPr lang="es-ES" sz="1300" b="0" i="0" cap="none" dirty="0">
                <a:solidFill>
                  <a:schemeClr val="tx1"/>
                </a:solidFill>
                <a:effectLst/>
                <a:latin typeface="Arial" panose="020B0604020202020204" pitchFamily="34" charset="0"/>
                <a:cs typeface="Arial" panose="020B0604020202020204" pitchFamily="34" charset="0"/>
              </a:rPr>
              <a:t>[0.99505426, 0.01004259, 0.96264794, 0.047651 ] se puede apreciar que el 1er y 3er modo simulados son transversales eléctricos</a:t>
            </a:r>
          </a:p>
          <a:p>
            <a:pPr algn="just"/>
            <a:endParaRPr lang="es-ES" sz="1300" cap="none" dirty="0">
              <a:solidFill>
                <a:schemeClr val="tx1"/>
              </a:solidFill>
              <a:latin typeface="Arial" panose="020B0604020202020204" pitchFamily="34" charset="0"/>
              <a:cs typeface="Arial" panose="020B0604020202020204" pitchFamily="34" charset="0"/>
            </a:endParaRPr>
          </a:p>
          <a:p>
            <a:pPr algn="just"/>
            <a:r>
              <a:rPr lang="es-ES" sz="1300" cap="none" dirty="0">
                <a:latin typeface="Arial" panose="020B0604020202020204" pitchFamily="34" charset="0"/>
                <a:cs typeface="Arial" panose="020B0604020202020204" pitchFamily="34" charset="0"/>
              </a:rPr>
              <a:t>El segundo array obtenido nos dice cuanto de transversal magnético es cada uno de los modos simulados, el resultado ha sido el siguiente:</a:t>
            </a:r>
          </a:p>
          <a:p>
            <a:pPr lvl="1" algn="just"/>
            <a:r>
              <a:rPr lang="es-ES" sz="1300" b="0" i="0" cap="none" dirty="0">
                <a:solidFill>
                  <a:schemeClr val="tx1"/>
                </a:solidFill>
                <a:effectLst/>
                <a:latin typeface="Arial" panose="020B0604020202020204" pitchFamily="34" charset="0"/>
                <a:cs typeface="Arial" panose="020B0604020202020204" pitchFamily="34" charset="0"/>
              </a:rPr>
              <a:t>[0.00494574, 0.98995741, 0.03735206, 0.952349 ] se puede apreciar que el 2º y 4º modo simulados son transversales magnéticos.</a:t>
            </a:r>
          </a:p>
          <a:p>
            <a:pPr algn="just"/>
            <a:endParaRPr lang="es-ES" sz="1300" cap="none" dirty="0">
              <a:solidFill>
                <a:schemeClr val="tx1"/>
              </a:solidFill>
              <a:latin typeface="Arial" panose="020B0604020202020204" pitchFamily="34" charset="0"/>
              <a:cs typeface="Arial" panose="020B0604020202020204" pitchFamily="34" charset="0"/>
            </a:endParaRPr>
          </a:p>
          <a:p>
            <a:pPr algn="just"/>
            <a:r>
              <a:rPr lang="es-ES" sz="1300" cap="none" dirty="0">
                <a:solidFill>
                  <a:schemeClr val="tx1"/>
                </a:solidFill>
                <a:latin typeface="Arial" panose="020B0604020202020204" pitchFamily="34" charset="0"/>
                <a:cs typeface="Arial" panose="020B0604020202020204" pitchFamily="34" charset="0"/>
              </a:rPr>
              <a:t>Una vez conocemos estos datos, dado que los modos </a:t>
            </a:r>
            <a:r>
              <a:rPr lang="es-ES" sz="1300" b="1" cap="none" dirty="0">
                <a:solidFill>
                  <a:schemeClr val="tx1"/>
                </a:solidFill>
                <a:latin typeface="Arial" panose="020B0604020202020204" pitchFamily="34" charset="0"/>
                <a:cs typeface="Arial" panose="020B0604020202020204" pitchFamily="34" charset="0"/>
              </a:rPr>
              <a:t>TE</a:t>
            </a:r>
            <a:r>
              <a:rPr lang="es-ES" sz="1300" cap="none" dirty="0">
                <a:solidFill>
                  <a:schemeClr val="tx1"/>
                </a:solidFill>
                <a:latin typeface="Arial" panose="020B0604020202020204" pitchFamily="34" charset="0"/>
                <a:cs typeface="Arial" panose="020B0604020202020204" pitchFamily="34" charset="0"/>
              </a:rPr>
              <a:t> oscilan casi en su totalidad horizontalmente y los </a:t>
            </a:r>
            <a:r>
              <a:rPr lang="es-ES" sz="1300" b="1" cap="none" dirty="0">
                <a:latin typeface="Arial" panose="020B0604020202020204" pitchFamily="34" charset="0"/>
                <a:cs typeface="Arial" panose="020B0604020202020204" pitchFamily="34" charset="0"/>
              </a:rPr>
              <a:t>TM</a:t>
            </a:r>
            <a:r>
              <a:rPr lang="es-ES" sz="1300" cap="none" dirty="0">
                <a:solidFill>
                  <a:schemeClr val="tx1"/>
                </a:solidFill>
                <a:latin typeface="Arial" panose="020B0604020202020204" pitchFamily="34" charset="0"/>
                <a:cs typeface="Arial" panose="020B0604020202020204" pitchFamily="34" charset="0"/>
              </a:rPr>
              <a:t> de forma vertical podemos decir que la polarización es lineal. Si buscamos ser puristas los modos TE10 y TM10 son cuasi lineales dado que tienen un 3’7% de componente vertical y un 4’7% de componente horizontal respectivamente, lo que significa que el campo eléctrico se curva ligeramente en esos nodos, pero es prácticamente lineal.</a:t>
            </a:r>
          </a:p>
        </p:txBody>
      </p:sp>
      <p:sp>
        <p:nvSpPr>
          <p:cNvPr id="4" name="Marcador de pie de página 3">
            <a:extLst>
              <a:ext uri="{FF2B5EF4-FFF2-40B4-BE49-F238E27FC236}">
                <a16:creationId xmlns:a16="http://schemas.microsoft.com/office/drawing/2014/main" id="{6B4CE18E-9E14-95DE-BDE1-773BAE1935A2}"/>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BDBC36AE-9F55-0A91-4E56-E004CBC0442E}"/>
              </a:ext>
            </a:extLst>
          </p:cNvPr>
          <p:cNvSpPr>
            <a:spLocks noGrp="1"/>
          </p:cNvSpPr>
          <p:nvPr>
            <p:ph type="sldNum" sz="quarter" idx="7"/>
          </p:nvPr>
        </p:nvSpPr>
        <p:spPr/>
        <p:txBody>
          <a:bodyPr/>
          <a:lstStyle/>
          <a:p>
            <a:fld id="{B6F15528-21DE-4FAA-801E-634DDDAF4B2B}" type="slidenum">
              <a:rPr lang="es-ES" smtClean="0"/>
              <a:t>6</a:t>
            </a:fld>
            <a:endParaRPr lang="es-ES"/>
          </a:p>
        </p:txBody>
      </p:sp>
    </p:spTree>
    <p:extLst>
      <p:ext uri="{BB962C8B-B14F-4D97-AF65-F5344CB8AC3E}">
        <p14:creationId xmlns:p14="http://schemas.microsoft.com/office/powerpoint/2010/main" val="34078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44655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(neff changes this way with wavelength, comparison between different waveguide cross-sections …</a:t>
            </a:r>
            <a:r>
              <a:rPr lang="en-US" sz="1200" b="1" dirty="0" err="1">
                <a:latin typeface="Arial" panose="020B0604020202020204" pitchFamily="34" charset="0"/>
                <a:cs typeface="Arial" panose="020B0604020202020204" pitchFamily="34" charset="0"/>
              </a:rPr>
              <a:t>etc</a:t>
            </a:r>
            <a:r>
              <a:rPr lang="en-US" sz="1200" b="1"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300" dirty="0">
                <a:latin typeface="Arial" panose="020B0604020202020204" pitchFamily="34" charset="0"/>
                <a:cs typeface="Arial" panose="020B0604020202020204" pitchFamily="34" charset="0"/>
              </a:rPr>
              <a:t>Como </a:t>
            </a:r>
            <a:r>
              <a:rPr lang="en-US" sz="1300" dirty="0" err="1">
                <a:latin typeface="Arial" panose="020B0604020202020204" pitchFamily="34" charset="0"/>
                <a:cs typeface="Arial" panose="020B0604020202020204" pitchFamily="34" charset="0"/>
              </a:rPr>
              <a:t>podemos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observar</a:t>
            </a:r>
            <a:r>
              <a:rPr lang="en-US" sz="1300" dirty="0">
                <a:latin typeface="Arial" panose="020B0604020202020204" pitchFamily="34" charset="0"/>
                <a:cs typeface="Arial" panose="020B0604020202020204" pitchFamily="34" charset="0"/>
              </a:rPr>
              <a:t>, para ambas </a:t>
            </a:r>
            <a:r>
              <a:rPr lang="en-US" sz="1300" dirty="0" err="1">
                <a:latin typeface="Arial" panose="020B0604020202020204" pitchFamily="34" charset="0"/>
                <a:cs typeface="Arial" panose="020B0604020202020204" pitchFamily="34" charset="0"/>
              </a:rPr>
              <a:t>guías</a:t>
            </a:r>
            <a:r>
              <a:rPr lang="en-US" sz="1300" dirty="0">
                <a:latin typeface="Arial" panose="020B0604020202020204" pitchFamily="34" charset="0"/>
                <a:cs typeface="Arial" panose="020B0604020202020204" pitchFamily="34" charset="0"/>
              </a:rPr>
              <a:t> de Ondas temenos que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índice</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refracción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efectivo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disminuye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según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aumenta</a:t>
            </a:r>
            <a:r>
              <a:rPr lang="en-US" sz="1300" dirty="0">
                <a:latin typeface="Arial" panose="020B0604020202020204" pitchFamily="34" charset="0"/>
                <a:cs typeface="Arial" panose="020B0604020202020204" pitchFamily="34" charset="0"/>
              </a:rPr>
              <a:t> la </a:t>
            </a:r>
            <a:r>
              <a:rPr lang="en-US" sz="1300" dirty="0" err="1">
                <a:latin typeface="Arial" panose="020B0604020202020204" pitchFamily="34" charset="0"/>
                <a:cs typeface="Arial" panose="020B0604020202020204" pitchFamily="34" charset="0"/>
              </a:rPr>
              <a:t>longitud</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onda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Debe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ocurrir</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esto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Según</a:t>
            </a:r>
            <a:r>
              <a:rPr lang="en-US" sz="1300" dirty="0">
                <a:latin typeface="Arial" panose="020B0604020202020204" pitchFamily="34" charset="0"/>
                <a:cs typeface="Arial" panose="020B0604020202020204" pitchFamily="34" charset="0"/>
              </a:rPr>
              <a:t> las </a:t>
            </a:r>
            <a:r>
              <a:rPr lang="en-US" sz="1300" dirty="0" err="1">
                <a:latin typeface="Arial" panose="020B0604020202020204" pitchFamily="34" charset="0"/>
                <a:cs typeface="Arial" panose="020B0604020202020204" pitchFamily="34" charset="0"/>
              </a:rPr>
              <a:t>transparencias</a:t>
            </a:r>
            <a:r>
              <a:rPr lang="en-US" sz="1300" dirty="0">
                <a:latin typeface="Arial" panose="020B0604020202020204" pitchFamily="34" charset="0"/>
                <a:cs typeface="Arial" panose="020B0604020202020204" pitchFamily="34" charset="0"/>
              </a:rPr>
              <a:t> vistas </a:t>
            </a:r>
            <a:r>
              <a:rPr lang="en-US" sz="1300" dirty="0" err="1">
                <a:latin typeface="Arial" panose="020B0604020202020204" pitchFamily="34" charset="0"/>
                <a:cs typeface="Arial" panose="020B0604020202020204" pitchFamily="34" charset="0"/>
              </a:rPr>
              <a:t>en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clase</a:t>
            </a:r>
            <a:r>
              <a:rPr lang="en-US" sz="1300" dirty="0">
                <a:latin typeface="Arial" panose="020B0604020202020204" pitchFamily="34" charset="0"/>
                <a:cs typeface="Arial" panose="020B0604020202020204" pitchFamily="34" charset="0"/>
              </a:rPr>
              <a:t>, la </a:t>
            </a:r>
            <a:r>
              <a:rPr lang="en-US" sz="1300" dirty="0" err="1">
                <a:latin typeface="Arial" panose="020B0604020202020204" pitchFamily="34" charset="0"/>
                <a:cs typeface="Arial" panose="020B0604020202020204" pitchFamily="34" charset="0"/>
              </a:rPr>
              <a:t>Ecuación</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Sellmeier</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relaciona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directamente</a:t>
            </a:r>
            <a:r>
              <a:rPr lang="en-US" sz="1300" dirty="0">
                <a:latin typeface="Arial" panose="020B0604020202020204" pitchFamily="34" charset="0"/>
                <a:cs typeface="Arial" panose="020B0604020202020204" pitchFamily="34" charset="0"/>
              </a:rPr>
              <a:t> n con lambda </a:t>
            </a:r>
            <a:r>
              <a:rPr lang="en-US" sz="1300" dirty="0" err="1">
                <a:latin typeface="Arial" panose="020B0604020202020204" pitchFamily="34" charset="0"/>
                <a:cs typeface="Arial" panose="020B0604020202020204" pitchFamily="34" charset="0"/>
              </a:rPr>
              <a:t>en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función</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unas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constantes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experimentales</a:t>
            </a:r>
            <a:r>
              <a:rPr lang="en-US" sz="1300" dirty="0">
                <a:latin typeface="Arial" panose="020B0604020202020204" pitchFamily="34" charset="0"/>
                <a:cs typeface="Arial" panose="020B0604020202020204" pitchFamily="34" charset="0"/>
              </a:rPr>
              <a:t>, que </a:t>
            </a:r>
            <a:r>
              <a:rPr lang="en-US" sz="1300" dirty="0" err="1">
                <a:latin typeface="Arial" panose="020B0604020202020204" pitchFamily="34" charset="0"/>
                <a:cs typeface="Arial" panose="020B0604020202020204" pitchFamily="34" charset="0"/>
              </a:rPr>
              <a:t>varían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función</a:t>
            </a:r>
            <a:r>
              <a:rPr lang="en-US" sz="1300" dirty="0">
                <a:latin typeface="Arial" panose="020B0604020202020204" pitchFamily="34" charset="0"/>
                <a:cs typeface="Arial" panose="020B0604020202020204" pitchFamily="34" charset="0"/>
              </a:rPr>
              <a:t> del material </a:t>
            </a:r>
            <a:r>
              <a:rPr lang="en-US" sz="1300" dirty="0" err="1">
                <a:latin typeface="Arial" panose="020B0604020202020204" pitchFamily="34" charset="0"/>
                <a:cs typeface="Arial" panose="020B0604020202020204" pitchFamily="34" charset="0"/>
              </a:rPr>
              <a:t>utilizado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dicha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ecuación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demuestra</a:t>
            </a:r>
            <a:r>
              <a:rPr lang="en-US" sz="1300" dirty="0">
                <a:latin typeface="Arial" panose="020B0604020202020204" pitchFamily="34" charset="0"/>
                <a:cs typeface="Arial" panose="020B0604020202020204" pitchFamily="34" charset="0"/>
              </a:rPr>
              <a:t> que n y lambda son </a:t>
            </a:r>
            <a:r>
              <a:rPr lang="en-US" sz="1300" dirty="0" err="1">
                <a:latin typeface="Arial" panose="020B0604020202020204" pitchFamily="34" charset="0"/>
                <a:cs typeface="Arial" panose="020B0604020202020204" pitchFamily="34" charset="0"/>
              </a:rPr>
              <a:t>inversamente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proporcionales</a:t>
            </a:r>
            <a:r>
              <a:rPr lang="en-US" sz="1300" dirty="0">
                <a:latin typeface="Arial" panose="020B0604020202020204" pitchFamily="34" charset="0"/>
                <a:cs typeface="Arial" panose="020B0604020202020204" pitchFamily="34" charset="0"/>
              </a:rPr>
              <a:t>, luego </a:t>
            </a:r>
            <a:r>
              <a:rPr lang="en-US" sz="1300" dirty="0" err="1">
                <a:latin typeface="Arial" panose="020B0604020202020204" pitchFamily="34" charset="0"/>
                <a:cs typeface="Arial" panose="020B0604020202020204" pitchFamily="34" charset="0"/>
              </a:rPr>
              <a:t>tiene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sentido</a:t>
            </a:r>
            <a:r>
              <a:rPr lang="en-US" sz="1300" dirty="0">
                <a:latin typeface="Arial" panose="020B0604020202020204" pitchFamily="34" charset="0"/>
                <a:cs typeface="Arial" panose="020B0604020202020204" pitchFamily="34" charset="0"/>
              </a:rPr>
              <a:t> la </a:t>
            </a:r>
            <a:r>
              <a:rPr lang="en-US" sz="1300" dirty="0" err="1">
                <a:latin typeface="Arial" panose="020B0604020202020204" pitchFamily="34" charset="0"/>
                <a:cs typeface="Arial" panose="020B0604020202020204" pitchFamily="34" charset="0"/>
              </a:rPr>
              <a:t>tendencia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descendente</a:t>
            </a:r>
            <a:r>
              <a:rPr lang="en-US" sz="1300" dirty="0">
                <a:latin typeface="Arial" panose="020B0604020202020204" pitchFamily="34" charset="0"/>
                <a:cs typeface="Arial" panose="020B0604020202020204" pitchFamily="34" charset="0"/>
              </a:rPr>
              <a:t> de las </a:t>
            </a:r>
            <a:r>
              <a:rPr lang="en-US" sz="1300" dirty="0" err="1">
                <a:latin typeface="Arial" panose="020B0604020202020204" pitchFamily="34" charset="0"/>
                <a:cs typeface="Arial" panose="020B0604020202020204" pitchFamily="34" charset="0"/>
              </a:rPr>
              <a:t>gráficas</a:t>
            </a:r>
            <a:r>
              <a:rPr lang="en-US" sz="13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dirty="0"/>
              <a:t>shallow</a:t>
            </a:r>
            <a:r>
              <a:rPr lang="en-US" dirty="0"/>
              <a:t> waveguide</a:t>
            </a:r>
          </a:p>
          <a:p>
            <a:pPr algn="ctr"/>
            <a:endParaRPr lang="en-US" dirty="0"/>
          </a:p>
          <a:p>
            <a:pPr algn="ctr"/>
            <a:r>
              <a:rPr lang="en-US" dirty="0"/>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dirty="0"/>
              <a:t>deep</a:t>
            </a:r>
            <a:r>
              <a:rPr lang="en-US" dirty="0"/>
              <a:t> waveguide</a:t>
            </a:r>
          </a:p>
          <a:p>
            <a:pPr algn="ctr"/>
            <a:endParaRPr lang="en-US" dirty="0"/>
          </a:p>
          <a:p>
            <a:pPr algn="ctr"/>
            <a:r>
              <a:rPr lang="en-US" dirty="0"/>
              <a:t>Paste plot here</a:t>
            </a:r>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n-US"/>
              <a:t>slab </a:t>
            </a:r>
            <a:r>
              <a:rPr lang="en-US" dirty="0"/>
              <a:t>= 150nm</a:t>
            </a:r>
            <a:endParaRPr lang="es-ES" dirty="0"/>
          </a:p>
        </p:txBody>
      </p:sp>
      <p:pic>
        <p:nvPicPr>
          <p:cNvPr id="10" name="Imagen 9">
            <a:extLst>
              <a:ext uri="{FF2B5EF4-FFF2-40B4-BE49-F238E27FC236}">
                <a16:creationId xmlns:a16="http://schemas.microsoft.com/office/drawing/2014/main" id="{C5DEE874-8AB9-C44B-7BE0-61CF0A9398EE}"/>
              </a:ext>
            </a:extLst>
          </p:cNvPr>
          <p:cNvPicPr>
            <a:picLocks noChangeAspect="1"/>
          </p:cNvPicPr>
          <p:nvPr/>
        </p:nvPicPr>
        <p:blipFill>
          <a:blip r:embed="rId5"/>
          <a:stretch>
            <a:fillRect/>
          </a:stretch>
        </p:blipFill>
        <p:spPr>
          <a:xfrm>
            <a:off x="6306310" y="1381397"/>
            <a:ext cx="5796238" cy="3371850"/>
          </a:xfrm>
          <a:prstGeom prst="rect">
            <a:avLst/>
          </a:prstGeom>
        </p:spPr>
      </p:pic>
      <p:pic>
        <p:nvPicPr>
          <p:cNvPr id="12" name="Imagen 11">
            <a:extLst>
              <a:ext uri="{FF2B5EF4-FFF2-40B4-BE49-F238E27FC236}">
                <a16:creationId xmlns:a16="http://schemas.microsoft.com/office/drawing/2014/main" id="{573D5311-149D-4B4C-590B-4C07CDB35D04}"/>
              </a:ext>
            </a:extLst>
          </p:cNvPr>
          <p:cNvPicPr>
            <a:picLocks noChangeAspect="1"/>
          </p:cNvPicPr>
          <p:nvPr/>
        </p:nvPicPr>
        <p:blipFill>
          <a:blip r:embed="rId6"/>
          <a:stretch>
            <a:fillRect/>
          </a:stretch>
        </p:blipFill>
        <p:spPr>
          <a:xfrm>
            <a:off x="270358" y="1381397"/>
            <a:ext cx="5742816" cy="3343004"/>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B1A83F-7A46-41D7-E247-6C7853B5B4E7}"/>
              </a:ext>
            </a:extLst>
          </p:cNvPr>
          <p:cNvSpPr>
            <a:spLocks noGrp="1"/>
          </p:cNvSpPr>
          <p:nvPr>
            <p:ph type="title"/>
          </p:nvPr>
        </p:nvSpPr>
        <p:spPr>
          <a:xfrm>
            <a:off x="590550" y="206752"/>
            <a:ext cx="10991850" cy="769441"/>
          </a:xfrm>
        </p:spPr>
        <p:txBody>
          <a:bodyPr/>
          <a:lstStyle/>
          <a:p>
            <a:r>
              <a:rPr lang="en-US" sz="2500" dirty="0"/>
              <a:t>Learning outcome #2 – Wavelength behavior</a:t>
            </a:r>
            <a:br>
              <a:rPr lang="es-ES" sz="2500" spc="-5" dirty="0">
                <a:latin typeface="+mj-lt"/>
                <a:cs typeface="Lucida Sans"/>
              </a:rPr>
            </a:br>
            <a:r>
              <a:rPr lang="en-US" sz="2500" b="0" dirty="0"/>
              <a:t>Wavelength 1.5-1.6 µm (step 0.01 µm) – width 1.2 µm</a:t>
            </a:r>
            <a:endParaRPr lang="es-ES" sz="2500" dirty="0"/>
          </a:p>
        </p:txBody>
      </p:sp>
      <p:sp>
        <p:nvSpPr>
          <p:cNvPr id="3" name="Marcador de texto 2">
            <a:extLst>
              <a:ext uri="{FF2B5EF4-FFF2-40B4-BE49-F238E27FC236}">
                <a16:creationId xmlns:a16="http://schemas.microsoft.com/office/drawing/2014/main" id="{A973F505-32CD-4DFE-9FA4-0492BD7733F6}"/>
              </a:ext>
            </a:extLst>
          </p:cNvPr>
          <p:cNvSpPr>
            <a:spLocks noGrp="1"/>
          </p:cNvSpPr>
          <p:nvPr>
            <p:ph type="body" idx="1"/>
          </p:nvPr>
        </p:nvSpPr>
        <p:spPr>
          <a:xfrm>
            <a:off x="609600" y="1905000"/>
            <a:ext cx="10515600" cy="4154984"/>
          </a:xfrm>
        </p:spPr>
        <p:txBody>
          <a:bodyPr>
            <a:normAutofit/>
          </a:bodyPr>
          <a:lstStyle/>
          <a:p>
            <a:pPr algn="just"/>
            <a:r>
              <a:rPr lang="es-ES" sz="1300" cap="none" dirty="0">
                <a:latin typeface="Arial" panose="020B0604020202020204" pitchFamily="34" charset="0"/>
                <a:cs typeface="Arial" panose="020B0604020202020204" pitchFamily="34" charset="0"/>
              </a:rPr>
              <a:t>En las gráficas también se puede apreciar como los modos fundamentales tienen mayor índice de refracción que los modos de orden superior, esto se debe a que en los modos fundamentales la energía está concentrada en un solo lóbulo en el centro de la guía, al estar centrado la luz viaja prácticamente en su totalidad por el nitruro de silicio (n mayor). Los modos de orden superior son más anchos y pueden tener varios lóbulos, la luz se extiende por tanto más hacia los bordes de la guía, donde el revestimiento es de dióxido de silicio (n menor).</a:t>
            </a:r>
          </a:p>
          <a:p>
            <a:endParaRPr lang="es-ES" sz="1300" dirty="0"/>
          </a:p>
          <a:p>
            <a:pPr algn="just"/>
            <a:r>
              <a:rPr lang="es-ES" sz="1300" cap="none" dirty="0">
                <a:latin typeface="Arial" panose="020B0604020202020204" pitchFamily="34" charset="0"/>
                <a:cs typeface="Arial" panose="020B0604020202020204" pitchFamily="34" charset="0"/>
              </a:rPr>
              <a:t>La diferencia entre ambas guías de ondas reside en el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de 150 nm, este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permite que haya una mayor presencia del nitruro de silicio que donde el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es 0, esto provoca que todos los modos aumenten el valor de su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especialmente los modos TE10 y TM10, que al añadir dicho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de 150 nm superan el valor constante del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del dióxido de silicio, lo que significaría que dichos modos con la presencia del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y para las longitudes de onda asignadas permitirían la reflexión interna total de la luz, disminuyendo así en gran medida las pérdidas por dispersión con respecto a la guía del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 0nm.</a:t>
            </a:r>
          </a:p>
          <a:p>
            <a:endParaRPr lang="es-ES" dirty="0"/>
          </a:p>
          <a:p>
            <a:endParaRPr lang="es-ES" dirty="0"/>
          </a:p>
          <a:p>
            <a:endParaRPr lang="es-ES" dirty="0"/>
          </a:p>
        </p:txBody>
      </p:sp>
      <p:sp>
        <p:nvSpPr>
          <p:cNvPr id="4" name="Marcador de pie de página 3">
            <a:extLst>
              <a:ext uri="{FF2B5EF4-FFF2-40B4-BE49-F238E27FC236}">
                <a16:creationId xmlns:a16="http://schemas.microsoft.com/office/drawing/2014/main" id="{C6824B5D-7359-D9D4-6AE5-17DB309953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DBD65B35-2D6D-DB69-C2E8-9B3ADDCF1265}"/>
              </a:ext>
            </a:extLst>
          </p:cNvPr>
          <p:cNvSpPr>
            <a:spLocks noGrp="1"/>
          </p:cNvSpPr>
          <p:nvPr>
            <p:ph type="sldNum" sz="quarter" idx="7"/>
          </p:nvPr>
        </p:nvSpPr>
        <p:spPr/>
        <p:txBody>
          <a:bodyPr/>
          <a:lstStyle/>
          <a:p>
            <a:fld id="{B6F15528-21DE-4FAA-801E-634DDDAF4B2B}" type="slidenum">
              <a:rPr lang="es-ES" smtClean="0"/>
              <a:t>8</a:t>
            </a:fld>
            <a:endParaRPr lang="es-ES"/>
          </a:p>
        </p:txBody>
      </p:sp>
    </p:spTree>
    <p:extLst>
      <p:ext uri="{BB962C8B-B14F-4D97-AF65-F5344CB8AC3E}">
        <p14:creationId xmlns:p14="http://schemas.microsoft.com/office/powerpoint/2010/main" val="657658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31106"/>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(neff changes this way with width, polarization behavior, </a:t>
            </a:r>
            <a:r>
              <a:rPr lang="en-US" sz="1200" b="1" dirty="0" err="1">
                <a:latin typeface="Arial" panose="020B0604020202020204" pitchFamily="34" charset="0"/>
                <a:cs typeface="Arial" panose="020B0604020202020204" pitchFamily="34" charset="0"/>
              </a:rPr>
              <a:t>etc</a:t>
            </a:r>
            <a:r>
              <a:rPr lang="en-US" sz="1200" b="1"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300" dirty="0" err="1">
                <a:latin typeface="Arial" panose="020B0604020202020204" pitchFamily="34" charset="0"/>
                <a:cs typeface="Arial" panose="020B0604020202020204" pitchFamily="34" charset="0"/>
              </a:rPr>
              <a:t>Realizamos</a:t>
            </a:r>
            <a:r>
              <a:rPr lang="en-US" sz="1300" dirty="0">
                <a:latin typeface="Arial" panose="020B0604020202020204" pitchFamily="34" charset="0"/>
                <a:cs typeface="Arial" panose="020B0604020202020204" pitchFamily="34" charset="0"/>
              </a:rPr>
              <a:t> un </a:t>
            </a:r>
            <a:r>
              <a:rPr lang="en-US" sz="1300" dirty="0" err="1">
                <a:latin typeface="Arial" panose="020B0604020202020204" pitchFamily="34" charset="0"/>
                <a:cs typeface="Arial" panose="020B0604020202020204" pitchFamily="34" charset="0"/>
              </a:rPr>
              <a:t>barrido</a:t>
            </a:r>
            <a:r>
              <a:rPr lang="en-US" sz="1300" dirty="0">
                <a:latin typeface="Arial" panose="020B0604020202020204" pitchFamily="34" charset="0"/>
                <a:cs typeface="Arial" panose="020B0604020202020204" pitchFamily="34" charset="0"/>
              </a:rPr>
              <a:t> del ancho de la </a:t>
            </a:r>
            <a:r>
              <a:rPr lang="en-US" sz="1300" dirty="0" err="1">
                <a:latin typeface="Arial" panose="020B0604020202020204" pitchFamily="34" charset="0"/>
                <a:cs typeface="Arial" panose="020B0604020202020204" pitchFamily="34" charset="0"/>
              </a:rPr>
              <a:t>guía</a:t>
            </a:r>
            <a:r>
              <a:rPr lang="en-US" sz="1300" dirty="0">
                <a:latin typeface="Arial" panose="020B0604020202020204" pitchFamily="34" charset="0"/>
                <a:cs typeface="Arial" panose="020B0604020202020204" pitchFamily="34" charset="0"/>
              </a:rPr>
              <a:t> para </a:t>
            </a:r>
            <a:r>
              <a:rPr lang="en-US" sz="1300" dirty="0" err="1">
                <a:latin typeface="Arial" panose="020B0604020202020204" pitchFamily="34" charset="0"/>
                <a:cs typeface="Arial" panose="020B0604020202020204" pitchFamily="34" charset="0"/>
              </a:rPr>
              <a:t>ver</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como</a:t>
            </a:r>
            <a:r>
              <a:rPr lang="en-US" sz="1300" dirty="0">
                <a:latin typeface="Arial" panose="020B0604020202020204" pitchFamily="34" charset="0"/>
                <a:cs typeface="Arial" panose="020B0604020202020204" pitchFamily="34" charset="0"/>
              </a:rPr>
              <a:t> cambia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comportamiento</a:t>
            </a:r>
            <a:r>
              <a:rPr lang="en-US" sz="1300" dirty="0">
                <a:latin typeface="Arial" panose="020B0604020202020204" pitchFamily="34" charset="0"/>
                <a:cs typeface="Arial" panose="020B0604020202020204" pitchFamily="34" charset="0"/>
              </a:rPr>
              <a:t> de la luz </a:t>
            </a:r>
            <a:r>
              <a:rPr lang="en-US" sz="1300" dirty="0" err="1">
                <a:latin typeface="Arial" panose="020B0604020202020204" pitchFamily="34" charset="0"/>
                <a:cs typeface="Arial" panose="020B0604020202020204" pitchFamily="34" charset="0"/>
              </a:rPr>
              <a:t>cuando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estrechamos</a:t>
            </a:r>
            <a:r>
              <a:rPr lang="en-US" sz="1300" dirty="0">
                <a:latin typeface="Arial" panose="020B0604020202020204" pitchFamily="34" charset="0"/>
                <a:cs typeface="Arial" panose="020B0604020202020204" pitchFamily="34" charset="0"/>
              </a:rPr>
              <a:t> o </a:t>
            </a:r>
            <a:r>
              <a:rPr lang="en-US" sz="1300" dirty="0" err="1">
                <a:latin typeface="Arial" panose="020B0604020202020204" pitchFamily="34" charset="0"/>
                <a:cs typeface="Arial" panose="020B0604020202020204" pitchFamily="34" charset="0"/>
              </a:rPr>
              <a:t>ensanchamos</a:t>
            </a:r>
            <a:r>
              <a:rPr lang="en-US" sz="1300" dirty="0">
                <a:latin typeface="Arial" panose="020B0604020202020204" pitchFamily="34" charset="0"/>
                <a:cs typeface="Arial" panose="020B0604020202020204" pitchFamily="34" charset="0"/>
              </a:rPr>
              <a:t> la </a:t>
            </a:r>
            <a:r>
              <a:rPr lang="en-US" sz="1300" dirty="0" err="1">
                <a:latin typeface="Arial" panose="020B0604020202020204" pitchFamily="34" charset="0"/>
                <a:cs typeface="Arial" panose="020B0604020202020204" pitchFamily="34" charset="0"/>
              </a:rPr>
              <a:t>guía</a:t>
            </a:r>
            <a:r>
              <a:rPr lang="en-US" sz="1300" dirty="0">
                <a:latin typeface="Arial" panose="020B0604020202020204" pitchFamily="34" charset="0"/>
                <a:cs typeface="Arial" panose="020B0604020202020204" pitchFamily="34" charset="0"/>
              </a:rPr>
              <a:t>.</a:t>
            </a:r>
          </a:p>
          <a:p>
            <a:pPr algn="just"/>
            <a:endParaRPr lang="en-US" sz="1100" dirty="0">
              <a:latin typeface="Arial" panose="020B0604020202020204" pitchFamily="34" charset="0"/>
              <a:cs typeface="Arial" panose="020B0604020202020204" pitchFamily="34" charset="0"/>
            </a:endParaRPr>
          </a:p>
          <a:p>
            <a:pPr algn="just"/>
            <a:r>
              <a:rPr lang="en-US" sz="1300" dirty="0" err="1">
                <a:latin typeface="Arial" panose="020B0604020202020204" pitchFamily="34" charset="0"/>
                <a:cs typeface="Arial" panose="020B0604020202020204" pitchFamily="34" charset="0"/>
              </a:rPr>
              <a:t>Según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aumentamos</a:t>
            </a:r>
            <a:r>
              <a:rPr lang="en-US" sz="1300" dirty="0">
                <a:latin typeface="Arial" panose="020B0604020202020204" pitchFamily="34" charset="0"/>
                <a:cs typeface="Arial" panose="020B0604020202020204" pitchFamily="34" charset="0"/>
              </a:rPr>
              <a:t> la </a:t>
            </a:r>
            <a:r>
              <a:rPr lang="en-US" sz="1300" dirty="0" err="1">
                <a:latin typeface="Arial" panose="020B0604020202020204" pitchFamily="34" charset="0"/>
                <a:cs typeface="Arial" panose="020B0604020202020204" pitchFamily="34" charset="0"/>
              </a:rPr>
              <a:t>anchura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aumenta</a:t>
            </a:r>
            <a:r>
              <a:rPr lang="en-US" sz="1300" dirty="0">
                <a:latin typeface="Arial" panose="020B0604020202020204" pitchFamily="34" charset="0"/>
                <a:cs typeface="Arial" panose="020B0604020202020204" pitchFamily="34" charset="0"/>
              </a:rPr>
              <a:t> la </a:t>
            </a:r>
            <a:r>
              <a:rPr lang="en-US" sz="1300" dirty="0" err="1">
                <a:latin typeface="Arial" panose="020B0604020202020204" pitchFamily="34" charset="0"/>
                <a:cs typeface="Arial" panose="020B0604020202020204" pitchFamily="34" charset="0"/>
              </a:rPr>
              <a:t>neff</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esto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ocurre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porque</a:t>
            </a:r>
            <a:r>
              <a:rPr lang="en-US" sz="1300" dirty="0">
                <a:latin typeface="Arial" panose="020B0604020202020204" pitchFamily="34" charset="0"/>
                <a:cs typeface="Arial" panose="020B0604020202020204" pitchFamily="34" charset="0"/>
              </a:rPr>
              <a:t> al </a:t>
            </a:r>
            <a:r>
              <a:rPr lang="en-US" sz="1300" dirty="0" err="1">
                <a:latin typeface="Arial" panose="020B0604020202020204" pitchFamily="34" charset="0"/>
                <a:cs typeface="Arial" panose="020B0604020202020204" pitchFamily="34" charset="0"/>
              </a:rPr>
              <a:t>hacer</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más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ancha</a:t>
            </a:r>
            <a:r>
              <a:rPr lang="en-US" sz="1300" dirty="0">
                <a:latin typeface="Arial" panose="020B0604020202020204" pitchFamily="34" charset="0"/>
                <a:cs typeface="Arial" panose="020B0604020202020204" pitchFamily="34" charset="0"/>
              </a:rPr>
              <a:t> la </a:t>
            </a:r>
            <a:r>
              <a:rPr lang="en-US" sz="1300" dirty="0" err="1">
                <a:latin typeface="Arial" panose="020B0604020202020204" pitchFamily="34" charset="0"/>
                <a:cs typeface="Arial" panose="020B0604020202020204" pitchFamily="34" charset="0"/>
              </a:rPr>
              <a:t>guía</a:t>
            </a:r>
            <a:r>
              <a:rPr lang="en-US" sz="1300" dirty="0">
                <a:latin typeface="Arial" panose="020B0604020202020204" pitchFamily="34" charset="0"/>
                <a:cs typeface="Arial" panose="020B0604020202020204" pitchFamily="34" charset="0"/>
              </a:rPr>
              <a:t> la luz </a:t>
            </a:r>
            <a:r>
              <a:rPr lang="en-US" sz="1300" dirty="0" err="1">
                <a:latin typeface="Arial" panose="020B0604020202020204" pitchFamily="34" charset="0"/>
                <a:cs typeface="Arial" panose="020B0604020202020204" pitchFamily="34" charset="0"/>
              </a:rPr>
              <a:t>cabe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mejor</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nitruro</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silicio</a:t>
            </a:r>
            <a:r>
              <a:rPr lang="en-US" sz="1300" dirty="0">
                <a:latin typeface="Arial" panose="020B0604020202020204" pitchFamily="34" charset="0"/>
                <a:cs typeface="Arial" panose="020B0604020202020204" pitchFamily="34" charset="0"/>
              </a:rPr>
              <a:t>, lo que </a:t>
            </a:r>
            <a:r>
              <a:rPr lang="en-US" sz="1300" dirty="0" err="1">
                <a:latin typeface="Arial" panose="020B0604020202020204" pitchFamily="34" charset="0"/>
                <a:cs typeface="Arial" panose="020B0604020202020204" pitchFamily="34" charset="0"/>
              </a:rPr>
              <a:t>hará</a:t>
            </a:r>
            <a:r>
              <a:rPr lang="en-US" sz="1300" dirty="0">
                <a:latin typeface="Arial" panose="020B0604020202020204" pitchFamily="34" charset="0"/>
                <a:cs typeface="Arial" panose="020B0604020202020204" pitchFamily="34" charset="0"/>
              </a:rPr>
              <a:t> que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índice</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refracción</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aumente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progresivamente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acercándose</a:t>
            </a:r>
            <a:r>
              <a:rPr lang="en-US" sz="1300" dirty="0">
                <a:latin typeface="Arial" panose="020B0604020202020204" pitchFamily="34" charset="0"/>
                <a:cs typeface="Arial" panose="020B0604020202020204" pitchFamily="34" charset="0"/>
              </a:rPr>
              <a:t> al del </a:t>
            </a:r>
            <a:r>
              <a:rPr lang="en-US" sz="1300" dirty="0" err="1">
                <a:latin typeface="Arial" panose="020B0604020202020204" pitchFamily="34" charset="0"/>
                <a:cs typeface="Arial" panose="020B0604020202020204" pitchFamily="34" charset="0"/>
              </a:rPr>
              <a:t>núcleo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neff</a:t>
            </a:r>
            <a:r>
              <a:rPr lang="en-US" sz="1300" dirty="0">
                <a:latin typeface="Arial" panose="020B0604020202020204" pitchFamily="34" charset="0"/>
                <a:cs typeface="Arial" panose="020B0604020202020204" pitchFamily="34" charset="0"/>
              </a:rPr>
              <a:t> = 2).</a:t>
            </a:r>
          </a:p>
        </p:txBody>
      </p:sp>
      <p:sp>
        <p:nvSpPr>
          <p:cNvPr id="7" name="Rectángulo 6">
            <a:extLst>
              <a:ext uri="{FF2B5EF4-FFF2-40B4-BE49-F238E27FC236}">
                <a16:creationId xmlns:a16="http://schemas.microsoft.com/office/drawing/2014/main" id="{FBC7D187-267A-ADD4-764C-D3820B8ED302}"/>
              </a:ext>
            </a:extLst>
          </p:cNvPr>
          <p:cNvSpPr/>
          <p:nvPr/>
        </p:nvSpPr>
        <p:spPr>
          <a:xfrm>
            <a:off x="3402010" y="1647042"/>
            <a:ext cx="5486559" cy="2971801"/>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plot here</a:t>
            </a:r>
          </a:p>
        </p:txBody>
      </p:sp>
      <p:pic>
        <p:nvPicPr>
          <p:cNvPr id="9" name="Imagen 8">
            <a:extLst>
              <a:ext uri="{FF2B5EF4-FFF2-40B4-BE49-F238E27FC236}">
                <a16:creationId xmlns:a16="http://schemas.microsoft.com/office/drawing/2014/main" id="{C007A30F-EA94-1869-7E94-46716DF94922}"/>
              </a:ext>
            </a:extLst>
          </p:cNvPr>
          <p:cNvPicPr>
            <a:picLocks noChangeAspect="1"/>
          </p:cNvPicPr>
          <p:nvPr/>
        </p:nvPicPr>
        <p:blipFill>
          <a:blip r:embed="rId5"/>
          <a:stretch>
            <a:fillRect/>
          </a:stretch>
        </p:blipFill>
        <p:spPr>
          <a:xfrm>
            <a:off x="3206442" y="1286378"/>
            <a:ext cx="5953125" cy="3426259"/>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0A847-3AFE-C4D8-7A08-F70E6DC988BB}"/>
              </a:ext>
            </a:extLst>
          </p:cNvPr>
          <p:cNvSpPr>
            <a:spLocks noGrp="1"/>
          </p:cNvSpPr>
          <p:nvPr>
            <p:ph type="title"/>
          </p:nvPr>
        </p:nvSpPr>
        <p:spPr>
          <a:xfrm>
            <a:off x="590550" y="206752"/>
            <a:ext cx="10991850" cy="769441"/>
          </a:xfrm>
        </p:spPr>
        <p:txBody>
          <a:bodyPr/>
          <a:lstStyle/>
          <a:p>
            <a:r>
              <a:rPr lang="en-US" sz="2500" dirty="0"/>
              <a:t>Learning outcome #3 – Width dependence</a:t>
            </a:r>
            <a:br>
              <a:rPr lang="es-ES" sz="2500" spc="-5" dirty="0">
                <a:latin typeface="+mj-lt"/>
                <a:cs typeface="Lucida Sans"/>
              </a:rPr>
            </a:br>
            <a:r>
              <a:rPr lang="en-US" sz="2500" b="0" dirty="0"/>
              <a:t>Width 0.6 - 1.6 µm (step 0.1 µm) – Wavelength 1.55 µm </a:t>
            </a:r>
            <a:endParaRPr lang="es-ES" sz="2500" dirty="0"/>
          </a:p>
        </p:txBody>
      </p:sp>
      <p:sp>
        <p:nvSpPr>
          <p:cNvPr id="3" name="Marcador de texto 2">
            <a:extLst>
              <a:ext uri="{FF2B5EF4-FFF2-40B4-BE49-F238E27FC236}">
                <a16:creationId xmlns:a16="http://schemas.microsoft.com/office/drawing/2014/main" id="{BD764A44-4711-4B49-C4A3-4CEEA0A3DF4F}"/>
              </a:ext>
            </a:extLst>
          </p:cNvPr>
          <p:cNvSpPr>
            <a:spLocks noGrp="1"/>
          </p:cNvSpPr>
          <p:nvPr>
            <p:ph type="body" idx="1"/>
          </p:nvPr>
        </p:nvSpPr>
        <p:spPr>
          <a:xfrm>
            <a:off x="609600" y="1560016"/>
            <a:ext cx="10972800" cy="4154984"/>
          </a:xfrm>
        </p:spPr>
        <p:txBody>
          <a:bodyPr>
            <a:normAutofit/>
          </a:bodyPr>
          <a:lstStyle/>
          <a:p>
            <a:pPr algn="just"/>
            <a:r>
              <a:rPr lang="en-US" sz="1300" cap="none" dirty="0">
                <a:latin typeface="Arial" panose="020B0604020202020204" pitchFamily="34" charset="0"/>
                <a:cs typeface="Arial" panose="020B0604020202020204" pitchFamily="34" charset="0"/>
              </a:rPr>
              <a:t>También </a:t>
            </a:r>
            <a:r>
              <a:rPr lang="en-US" sz="1300" cap="none" dirty="0" err="1">
                <a:latin typeface="Arial" panose="020B0604020202020204" pitchFamily="34" charset="0"/>
                <a:cs typeface="Arial" panose="020B0604020202020204" pitchFamily="34" charset="0"/>
              </a:rPr>
              <a:t>vemos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una</a:t>
            </a:r>
            <a:r>
              <a:rPr lang="en-US" sz="1300" cap="none" dirty="0">
                <a:latin typeface="Arial" panose="020B0604020202020204" pitchFamily="34" charset="0"/>
                <a:cs typeface="Arial" panose="020B0604020202020204" pitchFamily="34" charset="0"/>
              </a:rPr>
              <a:t> barra de </a:t>
            </a:r>
            <a:r>
              <a:rPr lang="en-US" sz="1300" cap="none" dirty="0" err="1">
                <a:latin typeface="Arial" panose="020B0604020202020204" pitchFamily="34" charset="0"/>
                <a:cs typeface="Arial" panose="020B0604020202020204" pitchFamily="34" charset="0"/>
              </a:rPr>
              <a:t>colores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indicando</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como</a:t>
            </a:r>
            <a:r>
              <a:rPr lang="en-US" sz="1300" cap="none" dirty="0">
                <a:latin typeface="Arial" panose="020B0604020202020204" pitchFamily="34" charset="0"/>
                <a:cs typeface="Arial" panose="020B0604020202020204" pitchFamily="34" charset="0"/>
              </a:rPr>
              <a:t> de transversal </a:t>
            </a:r>
            <a:r>
              <a:rPr lang="en-US" sz="1300" cap="none" dirty="0" err="1">
                <a:latin typeface="Arial" panose="020B0604020202020204" pitchFamily="34" charset="0"/>
                <a:cs typeface="Arial" panose="020B0604020202020204" pitchFamily="34" charset="0"/>
              </a:rPr>
              <a:t>eléctrico</a:t>
            </a:r>
            <a:r>
              <a:rPr lang="en-US" sz="1300" cap="none" dirty="0">
                <a:latin typeface="Arial" panose="020B0604020202020204" pitchFamily="34" charset="0"/>
                <a:cs typeface="Arial" panose="020B0604020202020204" pitchFamily="34" charset="0"/>
              </a:rPr>
              <a:t> o </a:t>
            </a:r>
            <a:r>
              <a:rPr lang="en-US" sz="1300" cap="none" dirty="0" err="1">
                <a:latin typeface="Arial" panose="020B0604020202020204" pitchFamily="34" charset="0"/>
                <a:cs typeface="Arial" panose="020B0604020202020204" pitchFamily="34" charset="0"/>
              </a:rPr>
              <a:t>magnético</a:t>
            </a:r>
            <a:r>
              <a:rPr lang="en-US" sz="1300" cap="none" dirty="0">
                <a:latin typeface="Arial" panose="020B0604020202020204" pitchFamily="34" charset="0"/>
                <a:cs typeface="Arial" panose="020B0604020202020204" pitchFamily="34" charset="0"/>
              </a:rPr>
              <a:t> es </a:t>
            </a:r>
            <a:r>
              <a:rPr lang="en-US" sz="1300" cap="none" dirty="0" err="1">
                <a:latin typeface="Arial" panose="020B0604020202020204" pitchFamily="34" charset="0"/>
                <a:cs typeface="Arial" panose="020B0604020202020204" pitchFamily="34" charset="0"/>
              </a:rPr>
              <a:t>cada</a:t>
            </a:r>
            <a:r>
              <a:rPr lang="en-US" sz="1300" cap="none" dirty="0">
                <a:latin typeface="Arial" panose="020B0604020202020204" pitchFamily="34" charset="0"/>
                <a:cs typeface="Arial" panose="020B0604020202020204" pitchFamily="34" charset="0"/>
              </a:rPr>
              <a:t> uno de </a:t>
            </a:r>
            <a:r>
              <a:rPr lang="en-US" sz="1300" cap="none" dirty="0" err="1">
                <a:latin typeface="Arial" panose="020B0604020202020204" pitchFamily="34" charset="0"/>
                <a:cs typeface="Arial" panose="020B0604020202020204" pitchFamily="34" charset="0"/>
              </a:rPr>
              <a:t>los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modos</a:t>
            </a:r>
            <a:r>
              <a:rPr lang="en-US" sz="1300" cap="none" dirty="0">
                <a:latin typeface="Arial" panose="020B0604020202020204" pitchFamily="34" charset="0"/>
                <a:cs typeface="Arial" panose="020B0604020202020204" pitchFamily="34" charset="0"/>
              </a:rPr>
              <a:t> y </a:t>
            </a:r>
            <a:r>
              <a:rPr lang="en-US" sz="1300" cap="none" dirty="0" err="1">
                <a:latin typeface="Arial" panose="020B0604020202020204" pitchFamily="34" charset="0"/>
                <a:cs typeface="Arial" panose="020B0604020202020204" pitchFamily="34" charset="0"/>
              </a:rPr>
              <a:t>como</a:t>
            </a:r>
            <a:r>
              <a:rPr lang="en-US" sz="1300" cap="none" dirty="0">
                <a:latin typeface="Arial" panose="020B0604020202020204" pitchFamily="34" charset="0"/>
                <a:cs typeface="Arial" panose="020B0604020202020204" pitchFamily="34" charset="0"/>
              </a:rPr>
              <a:t> varia </a:t>
            </a:r>
            <a:r>
              <a:rPr lang="en-US" sz="1300" cap="none" dirty="0" err="1">
                <a:latin typeface="Arial" panose="020B0604020202020204" pitchFamily="34" charset="0"/>
                <a:cs typeface="Arial" panose="020B0604020202020204" pitchFamily="34" charset="0"/>
              </a:rPr>
              <a:t>este</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parámetro</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en</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función</a:t>
            </a:r>
            <a:r>
              <a:rPr lang="en-US" sz="1300" cap="none" dirty="0">
                <a:latin typeface="Arial" panose="020B0604020202020204" pitchFamily="34" charset="0"/>
                <a:cs typeface="Arial" panose="020B0604020202020204" pitchFamily="34" charset="0"/>
              </a:rPr>
              <a:t> de la </a:t>
            </a:r>
            <a:r>
              <a:rPr lang="en-US" sz="1300" cap="none" dirty="0" err="1">
                <a:latin typeface="Arial" panose="020B0604020202020204" pitchFamily="34" charset="0"/>
                <a:cs typeface="Arial" panose="020B0604020202020204" pitchFamily="34" charset="0"/>
              </a:rPr>
              <a:t>anchura</a:t>
            </a:r>
            <a:r>
              <a:rPr lang="en-US" sz="1300" cap="none" dirty="0">
                <a:latin typeface="Arial" panose="020B0604020202020204" pitchFamily="34" charset="0"/>
                <a:cs typeface="Arial" panose="020B0604020202020204" pitchFamily="34" charset="0"/>
              </a:rPr>
              <a:t> de la </a:t>
            </a:r>
            <a:r>
              <a:rPr lang="en-US" sz="1300" cap="none" dirty="0" err="1">
                <a:latin typeface="Arial" panose="020B0604020202020204" pitchFamily="34" charset="0"/>
                <a:cs typeface="Arial" panose="020B0604020202020204" pitchFamily="34" charset="0"/>
              </a:rPr>
              <a:t>guía</a:t>
            </a:r>
            <a:r>
              <a:rPr lang="en-US" sz="1300" cap="none" dirty="0">
                <a:latin typeface="Arial" panose="020B0604020202020204" pitchFamily="34" charset="0"/>
                <a:cs typeface="Arial" panose="020B0604020202020204" pitchFamily="34" charset="0"/>
              </a:rPr>
              <a:t>. </a:t>
            </a:r>
          </a:p>
          <a:p>
            <a:pPr algn="just"/>
            <a:endParaRPr lang="en-US" sz="1300" cap="none" dirty="0">
              <a:latin typeface="Arial" panose="020B0604020202020204" pitchFamily="34" charset="0"/>
              <a:cs typeface="Arial" panose="020B0604020202020204" pitchFamily="34" charset="0"/>
            </a:endParaRPr>
          </a:p>
          <a:p>
            <a:pPr algn="just"/>
            <a:r>
              <a:rPr lang="en-US" sz="1300" cap="none" dirty="0">
                <a:latin typeface="Arial" panose="020B0604020202020204" pitchFamily="34" charset="0"/>
                <a:cs typeface="Arial" panose="020B0604020202020204" pitchFamily="34" charset="0"/>
              </a:rPr>
              <a:t>En </a:t>
            </a:r>
            <a:r>
              <a:rPr lang="en-US" sz="1300" cap="none" dirty="0" err="1">
                <a:latin typeface="Arial" panose="020B0604020202020204" pitchFamily="34" charset="0"/>
                <a:cs typeface="Arial" panose="020B0604020202020204" pitchFamily="34" charset="0"/>
              </a:rPr>
              <a:t>los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modos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fundamentales</a:t>
            </a:r>
            <a:r>
              <a:rPr lang="en-US" sz="1300" cap="none" dirty="0">
                <a:latin typeface="Arial" panose="020B0604020202020204" pitchFamily="34" charset="0"/>
                <a:cs typeface="Arial" panose="020B0604020202020204" pitchFamily="34" charset="0"/>
              </a:rPr>
              <a:t> no se </a:t>
            </a:r>
            <a:r>
              <a:rPr lang="en-US" sz="1300" cap="none" dirty="0" err="1">
                <a:latin typeface="Arial" panose="020B0604020202020204" pitchFamily="34" charset="0"/>
                <a:cs typeface="Arial" panose="020B0604020202020204" pitchFamily="34" charset="0"/>
              </a:rPr>
              <a:t>aprecia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que</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el</a:t>
            </a:r>
            <a:r>
              <a:rPr lang="en-US" sz="1300" cap="none" dirty="0">
                <a:latin typeface="Arial" panose="020B0604020202020204" pitchFamily="34" charset="0"/>
                <a:cs typeface="Arial" panose="020B0604020202020204" pitchFamily="34" charset="0"/>
              </a:rPr>
              <a:t> ancho de la </a:t>
            </a:r>
            <a:r>
              <a:rPr lang="en-US" sz="1300" cap="none" dirty="0" err="1">
                <a:latin typeface="Arial" panose="020B0604020202020204" pitchFamily="34" charset="0"/>
                <a:cs typeface="Arial" panose="020B0604020202020204" pitchFamily="34" charset="0"/>
              </a:rPr>
              <a:t>guía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tenga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influencia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sobre</a:t>
            </a:r>
            <a:r>
              <a:rPr lang="en-US" sz="1300" cap="none" dirty="0">
                <a:latin typeface="Arial" panose="020B0604020202020204" pitchFamily="34" charset="0"/>
                <a:cs typeface="Arial" panose="020B0604020202020204" pitchFamily="34" charset="0"/>
              </a:rPr>
              <a:t> la </a:t>
            </a:r>
            <a:r>
              <a:rPr lang="en-US" sz="1300" cap="none" dirty="0" err="1">
                <a:latin typeface="Arial" panose="020B0604020202020204" pitchFamily="34" charset="0"/>
                <a:cs typeface="Arial" panose="020B0604020202020204" pitchFamily="34" charset="0"/>
              </a:rPr>
              <a:t>fracción</a:t>
            </a:r>
            <a:r>
              <a:rPr lang="en-US" sz="1300" cap="none" dirty="0">
                <a:latin typeface="Arial" panose="020B0604020202020204" pitchFamily="34" charset="0"/>
                <a:cs typeface="Arial" panose="020B0604020202020204" pitchFamily="34" charset="0"/>
              </a:rPr>
              <a:t> de </a:t>
            </a:r>
            <a:r>
              <a:rPr lang="en-US" sz="1300" cap="none" dirty="0" err="1">
                <a:latin typeface="Arial" panose="020B0604020202020204" pitchFamily="34" charset="0"/>
                <a:cs typeface="Arial" panose="020B0604020202020204" pitchFamily="34" charset="0"/>
              </a:rPr>
              <a:t>potencia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en</a:t>
            </a:r>
            <a:r>
              <a:rPr lang="en-US" sz="1300" cap="none" dirty="0">
                <a:latin typeface="Arial" panose="020B0604020202020204" pitchFamily="34" charset="0"/>
                <a:cs typeface="Arial" panose="020B0604020202020204" pitchFamily="34" charset="0"/>
              </a:rPr>
              <a:t> modo </a:t>
            </a:r>
            <a:r>
              <a:rPr lang="en-US" sz="1300" cap="none" dirty="0" err="1">
                <a:latin typeface="Arial" panose="020B0604020202020204" pitchFamily="34" charset="0"/>
                <a:cs typeface="Arial" panose="020B0604020202020204" pitchFamily="34" charset="0"/>
              </a:rPr>
              <a:t>te</a:t>
            </a:r>
            <a:r>
              <a:rPr lang="en-US" sz="1300" cap="none" dirty="0">
                <a:latin typeface="Arial" panose="020B0604020202020204" pitchFamily="34" charset="0"/>
                <a:cs typeface="Arial" panose="020B0604020202020204" pitchFamily="34" charset="0"/>
              </a:rPr>
              <a:t> o tm. Para </a:t>
            </a:r>
            <a:r>
              <a:rPr lang="en-US" sz="1300" cap="none" dirty="0" err="1">
                <a:latin typeface="Arial" panose="020B0604020202020204" pitchFamily="34" charset="0"/>
                <a:cs typeface="Arial" panose="020B0604020202020204" pitchFamily="34" charset="0"/>
              </a:rPr>
              <a:t>los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modos</a:t>
            </a:r>
            <a:r>
              <a:rPr lang="en-US" sz="1300" cap="none" dirty="0">
                <a:latin typeface="Arial" panose="020B0604020202020204" pitchFamily="34" charset="0"/>
                <a:cs typeface="Arial" panose="020B0604020202020204" pitchFamily="34" charset="0"/>
              </a:rPr>
              <a:t> de mayor </a:t>
            </a:r>
            <a:r>
              <a:rPr lang="en-US" sz="1300" cap="none" dirty="0" err="1">
                <a:latin typeface="Arial" panose="020B0604020202020204" pitchFamily="34" charset="0"/>
                <a:cs typeface="Arial" panose="020B0604020202020204" pitchFamily="34" charset="0"/>
              </a:rPr>
              <a:t>orden</a:t>
            </a:r>
            <a:r>
              <a:rPr lang="en-US" sz="1300" cap="none" dirty="0">
                <a:latin typeface="Arial" panose="020B0604020202020204" pitchFamily="34" charset="0"/>
                <a:cs typeface="Arial" panose="020B0604020202020204" pitchFamily="34" charset="0"/>
              </a:rPr>
              <a:t> se </a:t>
            </a:r>
            <a:r>
              <a:rPr lang="en-US" sz="1300" cap="none" dirty="0" err="1">
                <a:latin typeface="Arial" panose="020B0604020202020204" pitchFamily="34" charset="0"/>
                <a:cs typeface="Arial" panose="020B0604020202020204" pitchFamily="34" charset="0"/>
              </a:rPr>
              <a:t>observa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como</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según</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aumentamos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el</a:t>
            </a:r>
            <a:r>
              <a:rPr lang="en-US" sz="1300" cap="none" dirty="0">
                <a:latin typeface="Arial" panose="020B0604020202020204" pitchFamily="34" charset="0"/>
                <a:cs typeface="Arial" panose="020B0604020202020204" pitchFamily="34" charset="0"/>
              </a:rPr>
              <a:t> ancho las </a:t>
            </a:r>
            <a:r>
              <a:rPr lang="en-US" sz="1300" cap="none" dirty="0" err="1">
                <a:latin typeface="Arial" panose="020B0604020202020204" pitchFamily="34" charset="0"/>
                <a:cs typeface="Arial" panose="020B0604020202020204" pitchFamily="34" charset="0"/>
              </a:rPr>
              <a:t>fracciones</a:t>
            </a:r>
            <a:r>
              <a:rPr lang="en-US" sz="1300" cap="none" dirty="0">
                <a:latin typeface="Arial" panose="020B0604020202020204" pitchFamily="34" charset="0"/>
                <a:cs typeface="Arial" panose="020B0604020202020204" pitchFamily="34" charset="0"/>
              </a:rPr>
              <a:t> de </a:t>
            </a:r>
            <a:r>
              <a:rPr lang="en-US" sz="1300" cap="none" dirty="0" err="1">
                <a:latin typeface="Arial" panose="020B0604020202020204" pitchFamily="34" charset="0"/>
                <a:cs typeface="Arial" panose="020B0604020202020204" pitchFamily="34" charset="0"/>
              </a:rPr>
              <a:t>potencia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aumentan</a:t>
            </a:r>
            <a:r>
              <a:rPr lang="en-US" sz="1300" cap="none" dirty="0">
                <a:latin typeface="Arial" panose="020B0604020202020204" pitchFamily="34" charset="0"/>
                <a:cs typeface="Arial" panose="020B0604020202020204" pitchFamily="34" charset="0"/>
              </a:rPr>
              <a:t>, de </a:t>
            </a:r>
            <a:r>
              <a:rPr lang="en-US" sz="1300" cap="none" dirty="0" err="1">
                <a:latin typeface="Arial" panose="020B0604020202020204" pitchFamily="34" charset="0"/>
                <a:cs typeface="Arial" panose="020B0604020202020204" pitchFamily="34" charset="0"/>
              </a:rPr>
              <a:t>manera</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que</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el</a:t>
            </a:r>
            <a:r>
              <a:rPr lang="en-US" sz="1300" cap="none" dirty="0">
                <a:latin typeface="Arial" panose="020B0604020202020204" pitchFamily="34" charset="0"/>
                <a:cs typeface="Arial" panose="020B0604020202020204" pitchFamily="34" charset="0"/>
              </a:rPr>
              <a:t> modo TE se </a:t>
            </a:r>
            <a:r>
              <a:rPr lang="en-US" sz="1300" cap="none" dirty="0" err="1">
                <a:latin typeface="Arial" panose="020B0604020202020204" pitchFamily="34" charset="0"/>
                <a:cs typeface="Arial" panose="020B0604020202020204" pitchFamily="34" charset="0"/>
              </a:rPr>
              <a:t>vuelve</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más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puramente</a:t>
            </a:r>
            <a:r>
              <a:rPr lang="en-US" sz="1300" cap="none" dirty="0">
                <a:latin typeface="Arial" panose="020B0604020202020204" pitchFamily="34" charset="0"/>
                <a:cs typeface="Arial" panose="020B0604020202020204" pitchFamily="34" charset="0"/>
              </a:rPr>
              <a:t> TE e </a:t>
            </a:r>
            <a:r>
              <a:rPr lang="en-US" sz="1300" cap="none" dirty="0" err="1">
                <a:latin typeface="Arial" panose="020B0604020202020204" pitchFamily="34" charset="0"/>
                <a:cs typeface="Arial" panose="020B0604020202020204" pitchFamily="34" charset="0"/>
              </a:rPr>
              <a:t>igual</a:t>
            </a:r>
            <a:r>
              <a:rPr lang="en-US" sz="1300" cap="none" dirty="0">
                <a:latin typeface="Arial" panose="020B0604020202020204" pitchFamily="34" charset="0"/>
                <a:cs typeface="Arial" panose="020B0604020202020204" pitchFamily="34" charset="0"/>
              </a:rPr>
              <a:t> con </a:t>
            </a:r>
            <a:r>
              <a:rPr lang="en-US" sz="1300" cap="none" dirty="0" err="1">
                <a:latin typeface="Arial" panose="020B0604020202020204" pitchFamily="34" charset="0"/>
                <a:cs typeface="Arial" panose="020B0604020202020204" pitchFamily="34" charset="0"/>
              </a:rPr>
              <a:t>el</a:t>
            </a:r>
            <a:r>
              <a:rPr lang="en-US" sz="1300" cap="none" dirty="0">
                <a:latin typeface="Arial" panose="020B0604020202020204" pitchFamily="34" charset="0"/>
                <a:cs typeface="Arial" panose="020B0604020202020204" pitchFamily="34" charset="0"/>
              </a:rPr>
              <a:t> transversal </a:t>
            </a:r>
            <a:r>
              <a:rPr lang="en-US" sz="1300" cap="none" dirty="0" err="1">
                <a:latin typeface="Arial" panose="020B0604020202020204" pitchFamily="34" charset="0"/>
                <a:cs typeface="Arial" panose="020B0604020202020204" pitchFamily="34" charset="0"/>
              </a:rPr>
              <a:t>magnético</a:t>
            </a:r>
            <a:r>
              <a:rPr lang="en-US" sz="1300" cap="none" dirty="0">
                <a:latin typeface="Arial" panose="020B0604020202020204" pitchFamily="34" charset="0"/>
                <a:cs typeface="Arial" panose="020B0604020202020204" pitchFamily="34" charset="0"/>
              </a:rPr>
              <a:t>. Esto es </a:t>
            </a:r>
            <a:r>
              <a:rPr lang="en-US" sz="1300" cap="none" dirty="0" err="1">
                <a:latin typeface="Arial" panose="020B0604020202020204" pitchFamily="34" charset="0"/>
                <a:cs typeface="Arial" panose="020B0604020202020204" pitchFamily="34" charset="0"/>
              </a:rPr>
              <a:t>lógico</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en</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el</a:t>
            </a:r>
            <a:r>
              <a:rPr lang="en-US" sz="1300" cap="none" dirty="0">
                <a:latin typeface="Arial" panose="020B0604020202020204" pitchFamily="34" charset="0"/>
                <a:cs typeface="Arial" panose="020B0604020202020204" pitchFamily="34" charset="0"/>
              </a:rPr>
              <a:t> modo TE dado </a:t>
            </a:r>
            <a:r>
              <a:rPr lang="en-US" sz="1300" cap="none" dirty="0" err="1">
                <a:latin typeface="Arial" panose="020B0604020202020204" pitchFamily="34" charset="0"/>
                <a:cs typeface="Arial" panose="020B0604020202020204" pitchFamily="34" charset="0"/>
              </a:rPr>
              <a:t>que</a:t>
            </a:r>
            <a:r>
              <a:rPr lang="en-US" sz="1300" cap="none" dirty="0">
                <a:latin typeface="Arial" panose="020B0604020202020204" pitchFamily="34" charset="0"/>
                <a:cs typeface="Arial" panose="020B0604020202020204" pitchFamily="34" charset="0"/>
              </a:rPr>
              <a:t> al </a:t>
            </a:r>
            <a:r>
              <a:rPr lang="en-US" sz="1300" cap="none" dirty="0" err="1">
                <a:latin typeface="Arial" panose="020B0604020202020204" pitchFamily="34" charset="0"/>
                <a:cs typeface="Arial" panose="020B0604020202020204" pitchFamily="34" charset="0"/>
              </a:rPr>
              <a:t>aumentar</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el</a:t>
            </a:r>
            <a:r>
              <a:rPr lang="en-US" sz="1300" cap="none" dirty="0">
                <a:latin typeface="Arial" panose="020B0604020202020204" pitchFamily="34" charset="0"/>
                <a:cs typeface="Arial" panose="020B0604020202020204" pitchFamily="34" charset="0"/>
              </a:rPr>
              <a:t> ancho </a:t>
            </a:r>
            <a:r>
              <a:rPr lang="en-US" sz="1300" cap="none" dirty="0" err="1">
                <a:latin typeface="Arial" panose="020B0604020202020204" pitchFamily="34" charset="0"/>
                <a:cs typeface="Arial" panose="020B0604020202020204" pitchFamily="34" charset="0"/>
              </a:rPr>
              <a:t>proporcionas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más</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espacio</a:t>
            </a:r>
            <a:r>
              <a:rPr lang="en-US" sz="1300" cap="none" dirty="0">
                <a:latin typeface="Arial" panose="020B0604020202020204" pitchFamily="34" charset="0"/>
                <a:cs typeface="Arial" panose="020B0604020202020204" pitchFamily="34" charset="0"/>
              </a:rPr>
              <a:t> para </a:t>
            </a:r>
            <a:r>
              <a:rPr lang="en-US" sz="1300" cap="none" dirty="0" err="1">
                <a:latin typeface="Arial" panose="020B0604020202020204" pitchFamily="34" charset="0"/>
                <a:cs typeface="Arial" panose="020B0604020202020204" pitchFamily="34" charset="0"/>
              </a:rPr>
              <a:t>que</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el</a:t>
            </a:r>
            <a:r>
              <a:rPr lang="en-US" sz="1300" cap="none" dirty="0">
                <a:latin typeface="Arial" panose="020B0604020202020204" pitchFamily="34" charset="0"/>
                <a:cs typeface="Arial" panose="020B0604020202020204" pitchFamily="34" charset="0"/>
              </a:rPr>
              <a:t> campo </a:t>
            </a:r>
            <a:r>
              <a:rPr lang="en-US" sz="1300" cap="none" dirty="0" err="1">
                <a:latin typeface="Arial" panose="020B0604020202020204" pitchFamily="34" charset="0"/>
                <a:cs typeface="Arial" panose="020B0604020202020204" pitchFamily="34" charset="0"/>
              </a:rPr>
              <a:t>eléctrico</a:t>
            </a:r>
            <a:r>
              <a:rPr lang="en-US" sz="1300" cap="none" dirty="0">
                <a:latin typeface="Arial" panose="020B0604020202020204" pitchFamily="34" charset="0"/>
                <a:cs typeface="Arial" panose="020B0604020202020204" pitchFamily="34" charset="0"/>
              </a:rPr>
              <a:t> </a:t>
            </a:r>
            <a:r>
              <a:rPr lang="en-US" sz="1300" cap="none" dirty="0" err="1">
                <a:latin typeface="Arial" panose="020B0604020202020204" pitchFamily="34" charset="0"/>
                <a:cs typeface="Arial" panose="020B0604020202020204" pitchFamily="34" charset="0"/>
              </a:rPr>
              <a:t>oscile</a:t>
            </a:r>
            <a:r>
              <a:rPr lang="en-US" sz="1300" cap="none" dirty="0">
                <a:latin typeface="Arial" panose="020B0604020202020204" pitchFamily="34" charset="0"/>
                <a:cs typeface="Arial" panose="020B0604020202020204" pitchFamily="34" charset="0"/>
              </a:rPr>
              <a:t> de forma horizontal.</a:t>
            </a:r>
          </a:p>
          <a:p>
            <a:pPr algn="just"/>
            <a:endParaRPr lang="en-US" sz="1300" b="1" cap="none" dirty="0">
              <a:solidFill>
                <a:srgbClr val="FF0000"/>
              </a:solidFill>
              <a:latin typeface="Arial" panose="020B0604020202020204" pitchFamily="34" charset="0"/>
              <a:cs typeface="Arial" panose="020B0604020202020204" pitchFamily="34" charset="0"/>
            </a:endParaRPr>
          </a:p>
          <a:p>
            <a:pPr algn="just"/>
            <a:r>
              <a:rPr lang="en-US" sz="1300" cap="none" dirty="0">
                <a:solidFill>
                  <a:schemeClr val="tx1"/>
                </a:solidFill>
                <a:latin typeface="Arial" panose="020B0604020202020204" pitchFamily="34" charset="0"/>
                <a:cs typeface="Arial" panose="020B0604020202020204" pitchFamily="34" charset="0"/>
              </a:rPr>
              <a:t>Se </a:t>
            </a:r>
            <a:r>
              <a:rPr lang="en-US" sz="1300" cap="none" dirty="0" err="1">
                <a:solidFill>
                  <a:schemeClr val="tx1"/>
                </a:solidFill>
                <a:latin typeface="Arial" panose="020B0604020202020204" pitchFamily="34" charset="0"/>
                <a:cs typeface="Arial" panose="020B0604020202020204" pitchFamily="34" charset="0"/>
              </a:rPr>
              <a:t>puede</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deducir</a:t>
            </a:r>
            <a:r>
              <a:rPr lang="en-US" sz="1300" cap="none" dirty="0">
                <a:solidFill>
                  <a:schemeClr val="tx1"/>
                </a:solidFill>
                <a:latin typeface="Arial" panose="020B0604020202020204" pitchFamily="34" charset="0"/>
                <a:cs typeface="Arial" panose="020B0604020202020204" pitchFamily="34" charset="0"/>
              </a:rPr>
              <a:t> de la </a:t>
            </a:r>
            <a:r>
              <a:rPr lang="en-US" sz="1300" cap="none" dirty="0" err="1">
                <a:solidFill>
                  <a:schemeClr val="tx1"/>
                </a:solidFill>
                <a:latin typeface="Arial" panose="020B0604020202020204" pitchFamily="34" charset="0"/>
                <a:cs typeface="Arial" panose="020B0604020202020204" pitchFamily="34" charset="0"/>
              </a:rPr>
              <a:t>gráfica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que</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aumentar</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el</a:t>
            </a:r>
            <a:r>
              <a:rPr lang="en-US" sz="1300" cap="none" dirty="0">
                <a:solidFill>
                  <a:schemeClr val="tx1"/>
                </a:solidFill>
                <a:latin typeface="Arial" panose="020B0604020202020204" pitchFamily="34" charset="0"/>
                <a:cs typeface="Arial" panose="020B0604020202020204" pitchFamily="34" charset="0"/>
              </a:rPr>
              <a:t> ancho de la </a:t>
            </a:r>
            <a:r>
              <a:rPr lang="en-US" sz="1300" cap="none" dirty="0" err="1">
                <a:solidFill>
                  <a:schemeClr val="tx1"/>
                </a:solidFill>
                <a:latin typeface="Arial" panose="020B0604020202020204" pitchFamily="34" charset="0"/>
                <a:cs typeface="Arial" panose="020B0604020202020204" pitchFamily="34" charset="0"/>
              </a:rPr>
              <a:t>guía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favorece</a:t>
            </a:r>
            <a:r>
              <a:rPr lang="en-US" sz="1300" cap="none" dirty="0">
                <a:solidFill>
                  <a:schemeClr val="tx1"/>
                </a:solidFill>
                <a:latin typeface="Arial" panose="020B0604020202020204" pitchFamily="34" charset="0"/>
                <a:cs typeface="Arial" panose="020B0604020202020204" pitchFamily="34" charset="0"/>
              </a:rPr>
              <a:t> la </a:t>
            </a:r>
            <a:r>
              <a:rPr lang="en-US" sz="1300" cap="none" dirty="0" err="1">
                <a:solidFill>
                  <a:schemeClr val="tx1"/>
                </a:solidFill>
                <a:latin typeface="Arial" panose="020B0604020202020204" pitchFamily="34" charset="0"/>
                <a:cs typeface="Arial" panose="020B0604020202020204" pitchFamily="34" charset="0"/>
              </a:rPr>
              <a:t>obtención</a:t>
            </a:r>
            <a:r>
              <a:rPr lang="en-US" sz="1300" cap="none" dirty="0">
                <a:solidFill>
                  <a:schemeClr val="tx1"/>
                </a:solidFill>
                <a:latin typeface="Arial" panose="020B0604020202020204" pitchFamily="34" charset="0"/>
                <a:cs typeface="Arial" panose="020B0604020202020204" pitchFamily="34" charset="0"/>
              </a:rPr>
              <a:t> de </a:t>
            </a:r>
            <a:r>
              <a:rPr lang="en-US" sz="1300" cap="none" dirty="0" err="1">
                <a:solidFill>
                  <a:schemeClr val="tx1"/>
                </a:solidFill>
                <a:latin typeface="Arial" panose="020B0604020202020204" pitchFamily="34" charset="0"/>
                <a:cs typeface="Arial" panose="020B0604020202020204" pitchFamily="34" charset="0"/>
              </a:rPr>
              <a:t>una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polarización</a:t>
            </a:r>
            <a:r>
              <a:rPr lang="en-US" sz="1300" cap="none" dirty="0">
                <a:solidFill>
                  <a:schemeClr val="tx1"/>
                </a:solidFill>
                <a:latin typeface="Arial" panose="020B0604020202020204" pitchFamily="34" charset="0"/>
                <a:cs typeface="Arial" panose="020B0604020202020204" pitchFamily="34" charset="0"/>
              </a:rPr>
              <a:t> lineal.</a:t>
            </a:r>
          </a:p>
          <a:p>
            <a:pPr algn="just"/>
            <a:endParaRPr lang="en-US" sz="1300" cap="none" dirty="0">
              <a:solidFill>
                <a:schemeClr val="tx1"/>
              </a:solidFill>
              <a:latin typeface="Arial" panose="020B0604020202020204" pitchFamily="34" charset="0"/>
              <a:cs typeface="Arial" panose="020B0604020202020204" pitchFamily="34" charset="0"/>
            </a:endParaRPr>
          </a:p>
          <a:p>
            <a:pPr algn="just"/>
            <a:r>
              <a:rPr lang="en-US" sz="1300" cap="none" dirty="0">
                <a:solidFill>
                  <a:schemeClr val="tx1"/>
                </a:solidFill>
                <a:latin typeface="Arial" panose="020B0604020202020204" pitchFamily="34" charset="0"/>
                <a:cs typeface="Arial" panose="020B0604020202020204" pitchFamily="34" charset="0"/>
              </a:rPr>
              <a:t>Es </a:t>
            </a:r>
            <a:r>
              <a:rPr lang="en-US" sz="1300" cap="none" dirty="0" err="1">
                <a:solidFill>
                  <a:schemeClr val="tx1"/>
                </a:solidFill>
                <a:latin typeface="Arial" panose="020B0604020202020204" pitchFamily="34" charset="0"/>
                <a:cs typeface="Arial" panose="020B0604020202020204" pitchFamily="34" charset="0"/>
              </a:rPr>
              <a:t>una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guía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monomodo</a:t>
            </a:r>
            <a:r>
              <a:rPr lang="en-US" sz="1300" cap="none" dirty="0">
                <a:solidFill>
                  <a:schemeClr val="tx1"/>
                </a:solidFill>
                <a:latin typeface="Arial" panose="020B0604020202020204" pitchFamily="34" charset="0"/>
                <a:cs typeface="Arial" panose="020B0604020202020204" pitchFamily="34" charset="0"/>
              </a:rPr>
              <a:t> hasta </a:t>
            </a:r>
            <a:r>
              <a:rPr lang="en-US" sz="1300" cap="none" dirty="0" err="1">
                <a:solidFill>
                  <a:schemeClr val="tx1"/>
                </a:solidFill>
                <a:latin typeface="Arial" panose="020B0604020202020204" pitchFamily="34" charset="0"/>
                <a:cs typeface="Arial" panose="020B0604020202020204" pitchFamily="34" charset="0"/>
              </a:rPr>
              <a:t>que</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alcanzamos</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una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anchura</a:t>
            </a:r>
            <a:r>
              <a:rPr lang="en-US" sz="1300" cap="none" dirty="0">
                <a:solidFill>
                  <a:schemeClr val="tx1"/>
                </a:solidFill>
                <a:latin typeface="Arial" panose="020B0604020202020204" pitchFamily="34" charset="0"/>
                <a:cs typeface="Arial" panose="020B0604020202020204" pitchFamily="34" charset="0"/>
              </a:rPr>
              <a:t> de 1’3 </a:t>
            </a:r>
            <a:r>
              <a:rPr lang="en-US" sz="1300" cap="none" dirty="0" err="1">
                <a:solidFill>
                  <a:schemeClr val="tx1"/>
                </a:solidFill>
                <a:latin typeface="Arial" panose="020B0604020202020204" pitchFamily="34" charset="0"/>
                <a:cs typeface="Arial" panose="020B0604020202020204" pitchFamily="34" charset="0"/>
              </a:rPr>
              <a:t>micrómetros</a:t>
            </a:r>
            <a:r>
              <a:rPr lang="en-US" sz="1300" cap="none" dirty="0">
                <a:solidFill>
                  <a:schemeClr val="tx1"/>
                </a:solidFill>
                <a:latin typeface="Arial" panose="020B0604020202020204" pitchFamily="34" charset="0"/>
                <a:cs typeface="Arial" panose="020B0604020202020204" pitchFamily="34" charset="0"/>
              </a:rPr>
              <a:t>, a </a:t>
            </a:r>
            <a:r>
              <a:rPr lang="en-US" sz="1300" cap="none" dirty="0" err="1">
                <a:solidFill>
                  <a:schemeClr val="tx1"/>
                </a:solidFill>
                <a:latin typeface="Arial" panose="020B0604020202020204" pitchFamily="34" charset="0"/>
                <a:cs typeface="Arial" panose="020B0604020202020204" pitchFamily="34" charset="0"/>
              </a:rPr>
              <a:t>partir</a:t>
            </a:r>
            <a:r>
              <a:rPr lang="en-US" sz="1300" cap="none" dirty="0">
                <a:solidFill>
                  <a:schemeClr val="tx1"/>
                </a:solidFill>
                <a:latin typeface="Arial" panose="020B0604020202020204" pitchFamily="34" charset="0"/>
                <a:cs typeface="Arial" panose="020B0604020202020204" pitchFamily="34" charset="0"/>
              </a:rPr>
              <a:t> de </a:t>
            </a:r>
            <a:r>
              <a:rPr lang="en-US" sz="1300" cap="none" dirty="0" err="1">
                <a:solidFill>
                  <a:schemeClr val="tx1"/>
                </a:solidFill>
                <a:latin typeface="Arial" panose="020B0604020202020204" pitchFamily="34" charset="0"/>
                <a:cs typeface="Arial" panose="020B0604020202020204" pitchFamily="34" charset="0"/>
              </a:rPr>
              <a:t>esa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anchura</a:t>
            </a:r>
            <a:r>
              <a:rPr lang="en-US" sz="1300" cap="none" dirty="0">
                <a:solidFill>
                  <a:schemeClr val="tx1"/>
                </a:solidFill>
                <a:latin typeface="Arial" panose="020B0604020202020204" pitchFamily="34" charset="0"/>
                <a:cs typeface="Arial" panose="020B0604020202020204" pitchFamily="34" charset="0"/>
              </a:rPr>
              <a:t> se </a:t>
            </a:r>
            <a:r>
              <a:rPr lang="en-US" sz="1300" cap="none" dirty="0" err="1">
                <a:solidFill>
                  <a:schemeClr val="tx1"/>
                </a:solidFill>
                <a:latin typeface="Arial" panose="020B0604020202020204" pitchFamily="34" charset="0"/>
                <a:cs typeface="Arial" panose="020B0604020202020204" pitchFamily="34" charset="0"/>
              </a:rPr>
              <a:t>propaga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el</a:t>
            </a:r>
            <a:r>
              <a:rPr lang="en-US" sz="1300" cap="none" dirty="0">
                <a:solidFill>
                  <a:schemeClr val="tx1"/>
                </a:solidFill>
                <a:latin typeface="Arial" panose="020B0604020202020204" pitchFamily="34" charset="0"/>
                <a:cs typeface="Arial" panose="020B0604020202020204" pitchFamily="34" charset="0"/>
              </a:rPr>
              <a:t> modo te10 y </a:t>
            </a:r>
            <a:r>
              <a:rPr lang="en-US" sz="1300" cap="none" dirty="0" err="1">
                <a:solidFill>
                  <a:schemeClr val="tx1"/>
                </a:solidFill>
                <a:latin typeface="Arial" panose="020B0604020202020204" pitchFamily="34" charset="0"/>
                <a:cs typeface="Arial" panose="020B0604020202020204" pitchFamily="34" charset="0"/>
              </a:rPr>
              <a:t>pasamos</a:t>
            </a:r>
            <a:r>
              <a:rPr lang="en-US" sz="1300" cap="none" dirty="0">
                <a:solidFill>
                  <a:schemeClr val="tx1"/>
                </a:solidFill>
                <a:latin typeface="Arial" panose="020B0604020202020204" pitchFamily="34" charset="0"/>
                <a:cs typeface="Arial" panose="020B0604020202020204" pitchFamily="34" charset="0"/>
              </a:rPr>
              <a:t> a </a:t>
            </a:r>
            <a:r>
              <a:rPr lang="en-US" sz="1300" cap="none" dirty="0" err="1">
                <a:solidFill>
                  <a:schemeClr val="tx1"/>
                </a:solidFill>
                <a:latin typeface="Arial" panose="020B0604020202020204" pitchFamily="34" charset="0"/>
                <a:cs typeface="Arial" panose="020B0604020202020204" pitchFamily="34" charset="0"/>
              </a:rPr>
              <a:t>tener</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una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guía</a:t>
            </a:r>
            <a:r>
              <a:rPr lang="en-US" sz="1300" cap="none" dirty="0">
                <a:solidFill>
                  <a:schemeClr val="tx1"/>
                </a:solidFill>
                <a:latin typeface="Arial" panose="020B0604020202020204" pitchFamily="34" charset="0"/>
                <a:cs typeface="Arial" panose="020B0604020202020204" pitchFamily="34" charset="0"/>
              </a:rPr>
              <a:t> </a:t>
            </a:r>
            <a:r>
              <a:rPr lang="en-US" sz="1300" cap="none" dirty="0" err="1">
                <a:solidFill>
                  <a:schemeClr val="tx1"/>
                </a:solidFill>
                <a:latin typeface="Arial" panose="020B0604020202020204" pitchFamily="34" charset="0"/>
                <a:cs typeface="Arial" panose="020B0604020202020204" pitchFamily="34" charset="0"/>
              </a:rPr>
              <a:t>multimodo</a:t>
            </a:r>
            <a:r>
              <a:rPr lang="en-US" sz="1300" cap="none" dirty="0">
                <a:solidFill>
                  <a:schemeClr val="tx1"/>
                </a:solidFill>
                <a:latin typeface="Arial" panose="020B0604020202020204" pitchFamily="34" charset="0"/>
                <a:cs typeface="Arial" panose="020B0604020202020204" pitchFamily="34" charset="0"/>
              </a:rPr>
              <a:t>.</a:t>
            </a:r>
          </a:p>
          <a:p>
            <a:endParaRPr lang="es-ES" dirty="0"/>
          </a:p>
        </p:txBody>
      </p:sp>
      <p:sp>
        <p:nvSpPr>
          <p:cNvPr id="4" name="Marcador de pie de página 3">
            <a:extLst>
              <a:ext uri="{FF2B5EF4-FFF2-40B4-BE49-F238E27FC236}">
                <a16:creationId xmlns:a16="http://schemas.microsoft.com/office/drawing/2014/main" id="{C6A65ED5-AA7D-759E-2E96-F8D9BDA2298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26B4E8B8-6B01-E235-3E1F-DBA5F7823D62}"/>
              </a:ext>
            </a:extLst>
          </p:cNvPr>
          <p:cNvSpPr>
            <a:spLocks noGrp="1"/>
          </p:cNvSpPr>
          <p:nvPr>
            <p:ph type="sldNum" sz="quarter" idx="7"/>
          </p:nvPr>
        </p:nvSpPr>
        <p:spPr/>
        <p:txBody>
          <a:bodyPr/>
          <a:lstStyle/>
          <a:p>
            <a:fld id="{B6F15528-21DE-4FAA-801E-634DDDAF4B2B}" type="slidenum">
              <a:rPr lang="es-ES" smtClean="0"/>
              <a:t>10</a:t>
            </a:fld>
            <a:endParaRPr lang="es-ES"/>
          </a:p>
        </p:txBody>
      </p:sp>
    </p:spTree>
    <p:extLst>
      <p:ext uri="{BB962C8B-B14F-4D97-AF65-F5344CB8AC3E}">
        <p14:creationId xmlns:p14="http://schemas.microsoft.com/office/powerpoint/2010/main" val="3456750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60718"/>
            <a:ext cx="10964738" cy="170559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 </a:t>
            </a:r>
            <a:br>
              <a:rPr lang="en-US" b="0" dirty="0"/>
            </a:br>
            <a:endParaRPr lang="en-US" sz="2500" b="0" dirty="0">
              <a:latin typeface="+mj-lt"/>
              <a:cs typeface="Lucida Sans"/>
            </a:endParaRPr>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11</a:t>
            </a:fld>
            <a:endParaRPr lang="es-ES"/>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36191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a:p>
                <a:pPr algn="just"/>
                <a:r>
                  <a:rPr lang="en-US" sz="1200" dirty="0">
                    <a:latin typeface="Arial" panose="020B0604020202020204" pitchFamily="34" charset="0"/>
                    <a:cs typeface="Arial" panose="020B0604020202020204" pitchFamily="34" charset="0"/>
                  </a:rPr>
                  <a:t>Comment on the results found for the TE0 and TM0 for both deep and shallow waveguides. </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361911"/>
              </a:xfrm>
              <a:prstGeom prst="rect">
                <a:avLst/>
              </a:prstGeom>
              <a:blipFill>
                <a:blip r:embed="rId6"/>
                <a:stretch>
                  <a:fillRect/>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b="1" dirty="0"/>
                  <a:t>neff_TE0 vs </a:t>
                </a:r>
                <a14:m>
                  <m:oMath xmlns:m="http://schemas.openxmlformats.org/officeDocument/2006/math">
                    <m:r>
                      <a:rPr lang="es-ES" b="1" i="1" smtClean="0">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7"/>
                <a:stretch>
                  <a:fillRect t="-2538" r="-556" b="-710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b="1" dirty="0"/>
                  <a:t>neff_TE0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a:p>
                <a:pPr algn="ctr"/>
                <a:r>
                  <a:rPr lang="en-US" dirty="0"/>
                  <a:t>&amp; </a:t>
                </a:r>
                <a:r>
                  <a:rPr lang="en-US" b="1" dirty="0"/>
                  <a:t>neff_TM0 vs </a:t>
                </a:r>
                <a14:m>
                  <m:oMath xmlns:m="http://schemas.openxmlformats.org/officeDocument/2006/math">
                    <m:r>
                      <a:rPr lang="es-ES" b="1" i="1">
                        <a:latin typeface="Cambria Math" panose="02040503050406030204" pitchFamily="18" charset="0"/>
                      </a:rPr>
                      <m:t>𝝀</m:t>
                    </m:r>
                  </m:oMath>
                </a14:m>
                <a:r>
                  <a:rPr lang="en-US" b="1" dirty="0"/>
                  <a:t> </a:t>
                </a:r>
                <a:r>
                  <a:rPr lang="en-US" dirty="0"/>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8"/>
                <a:stretch>
                  <a:fillRect t="-2538" r="-556" b="-7107"/>
                </a:stretch>
              </a:blipFill>
            </p:spPr>
            <p:txBody>
              <a:bodyPr/>
              <a:lstStyle/>
              <a:p>
                <a:r>
                  <a:rPr lang="es-E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846BD264-6E4B-0BE0-F896-701674E1D3B2}"/>
              </a:ext>
            </a:extLst>
          </p:cNvPr>
          <p:cNvPicPr>
            <a:picLocks noChangeAspect="1"/>
          </p:cNvPicPr>
          <p:nvPr/>
        </p:nvPicPr>
        <p:blipFill>
          <a:blip r:embed="rId9"/>
          <a:stretch>
            <a:fillRect/>
          </a:stretch>
        </p:blipFill>
        <p:spPr>
          <a:xfrm>
            <a:off x="541462" y="1419757"/>
            <a:ext cx="5592052" cy="3355954"/>
          </a:xfrm>
          <a:prstGeom prst="rect">
            <a:avLst/>
          </a:prstGeom>
        </p:spPr>
      </p:pic>
      <p:pic>
        <p:nvPicPr>
          <p:cNvPr id="12" name="Imagen 11">
            <a:extLst>
              <a:ext uri="{FF2B5EF4-FFF2-40B4-BE49-F238E27FC236}">
                <a16:creationId xmlns:a16="http://schemas.microsoft.com/office/drawing/2014/main" id="{B6FEB80C-A2D3-4A58-0863-81C54907119B}"/>
              </a:ext>
            </a:extLst>
          </p:cNvPr>
          <p:cNvPicPr>
            <a:picLocks noChangeAspect="1"/>
          </p:cNvPicPr>
          <p:nvPr/>
        </p:nvPicPr>
        <p:blipFill>
          <a:blip r:embed="rId10"/>
          <a:stretch>
            <a:fillRect/>
          </a:stretch>
        </p:blipFill>
        <p:spPr>
          <a:xfrm>
            <a:off x="6277852" y="1433391"/>
            <a:ext cx="5749868" cy="3355954"/>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085884-A277-91EC-A289-F8873D412BE4}"/>
              </a:ext>
            </a:extLst>
          </p:cNvPr>
          <p:cNvSpPr>
            <a:spLocks noGrp="1"/>
          </p:cNvSpPr>
          <p:nvPr>
            <p:ph type="title"/>
          </p:nvPr>
        </p:nvSpPr>
        <p:spPr>
          <a:xfrm>
            <a:off x="590550" y="206752"/>
            <a:ext cx="10991850" cy="1241048"/>
          </a:xfrm>
        </p:spPr>
        <p:txBody>
          <a:bodyPr>
            <a:normAutofit/>
          </a:bodyPr>
          <a:lstStyle/>
          <a:p>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a:t>
            </a:r>
            <a:endParaRPr lang="es-ES" dirty="0"/>
          </a:p>
        </p:txBody>
      </p:sp>
      <p:sp>
        <p:nvSpPr>
          <p:cNvPr id="3" name="Marcador de texto 2">
            <a:extLst>
              <a:ext uri="{FF2B5EF4-FFF2-40B4-BE49-F238E27FC236}">
                <a16:creationId xmlns:a16="http://schemas.microsoft.com/office/drawing/2014/main" id="{990D4862-E2AD-7E0D-2B5A-8A7FBD168744}"/>
              </a:ext>
            </a:extLst>
          </p:cNvPr>
          <p:cNvSpPr>
            <a:spLocks noGrp="1"/>
          </p:cNvSpPr>
          <p:nvPr>
            <p:ph type="body" idx="1"/>
          </p:nvPr>
        </p:nvSpPr>
        <p:spPr>
          <a:xfrm>
            <a:off x="609600" y="2152910"/>
            <a:ext cx="11506200" cy="4225030"/>
          </a:xfrm>
        </p:spPr>
        <p:txBody>
          <a:bodyPr>
            <a:normAutofit/>
          </a:bodyPr>
          <a:lstStyle/>
          <a:p>
            <a:r>
              <a:rPr lang="es-ES" sz="1300" cap="none" dirty="0">
                <a:latin typeface="Arial" panose="020B0604020202020204" pitchFamily="34" charset="0"/>
                <a:cs typeface="Arial" panose="020B0604020202020204" pitchFamily="34" charset="0"/>
              </a:rPr>
              <a:t>Los coeficientes del polinomio de segundo grado para la </a:t>
            </a:r>
            <a:r>
              <a:rPr lang="es-ES" sz="1300" b="1" u="sng" cap="none" dirty="0">
                <a:latin typeface="Arial" panose="020B0604020202020204" pitchFamily="34" charset="0"/>
                <a:cs typeface="Arial" panose="020B0604020202020204" pitchFamily="34" charset="0"/>
              </a:rPr>
              <a:t>guía profunda </a:t>
            </a:r>
            <a:r>
              <a:rPr lang="es-ES" sz="1300" cap="none" dirty="0">
                <a:latin typeface="Arial" panose="020B0604020202020204" pitchFamily="34" charset="0"/>
                <a:cs typeface="Arial" panose="020B0604020202020204" pitchFamily="34" charset="0"/>
              </a:rPr>
              <a:t>han sido los siguientes:</a:t>
            </a:r>
          </a:p>
          <a:p>
            <a:pPr lvl="1"/>
            <a:r>
              <a:rPr lang="es-ES" sz="1300" cap="none" dirty="0">
                <a:latin typeface="Arial" panose="020B0604020202020204" pitchFamily="34" charset="0"/>
                <a:cs typeface="Arial" panose="020B0604020202020204" pitchFamily="34" charset="0"/>
              </a:rPr>
              <a:t>n1 = </a:t>
            </a:r>
            <a:r>
              <a:rPr lang="es-ES" sz="1300" b="0" i="0" dirty="0">
                <a:effectLst/>
                <a:latin typeface="Arial" panose="020B0604020202020204" pitchFamily="34" charset="0"/>
                <a:cs typeface="Arial" panose="020B0604020202020204" pitchFamily="34" charset="0"/>
              </a:rPr>
              <a:t>1.604917 </a:t>
            </a:r>
            <a:r>
              <a:rPr lang="es-ES" sz="1300" b="1" i="0" dirty="0">
                <a:effectLst/>
                <a:latin typeface="Arial" panose="020B0604020202020204" pitchFamily="34" charset="0"/>
                <a:cs typeface="Arial" panose="020B0604020202020204" pitchFamily="34" charset="0"/>
              </a:rPr>
              <a:t>(TE0) </a:t>
            </a:r>
            <a:r>
              <a:rPr lang="es-ES" sz="1300" b="1" dirty="0">
                <a:latin typeface="Arial" panose="020B0604020202020204" pitchFamily="34" charset="0"/>
                <a:cs typeface="Arial" panose="020B0604020202020204" pitchFamily="34" charset="0"/>
              </a:rPr>
              <a:t> ;   </a:t>
            </a:r>
            <a:r>
              <a:rPr lang="es-ES" sz="1300" cap="none" dirty="0">
                <a:latin typeface="Arial" panose="020B0604020202020204" pitchFamily="34" charset="0"/>
                <a:cs typeface="Arial" panose="020B0604020202020204" pitchFamily="34" charset="0"/>
              </a:rPr>
              <a:t>n2 = -0’2161769 </a:t>
            </a:r>
            <a:r>
              <a:rPr lang="es-ES" sz="1300" b="1" i="0" dirty="0">
                <a:effectLst/>
                <a:latin typeface="Arial" panose="020B0604020202020204" pitchFamily="34" charset="0"/>
                <a:cs typeface="Arial" panose="020B0604020202020204" pitchFamily="34" charset="0"/>
              </a:rPr>
              <a:t>(TE0)</a:t>
            </a:r>
            <a:r>
              <a:rPr lang="es-ES" sz="1300" b="1" i="0" cap="none" dirty="0">
                <a:effectLst/>
                <a:latin typeface="Arial" panose="020B0604020202020204" pitchFamily="34" charset="0"/>
                <a:cs typeface="Arial" panose="020B0604020202020204" pitchFamily="34" charset="0"/>
              </a:rPr>
              <a:t>  ;   </a:t>
            </a:r>
            <a:r>
              <a:rPr lang="es-ES" sz="1300" cap="none" dirty="0">
                <a:latin typeface="Arial" panose="020B0604020202020204" pitchFamily="34" charset="0"/>
                <a:cs typeface="Arial" panose="020B0604020202020204" pitchFamily="34" charset="0"/>
              </a:rPr>
              <a:t>n3 = 0’09735507 </a:t>
            </a:r>
            <a:r>
              <a:rPr lang="es-ES" sz="1300" b="1" i="0" dirty="0">
                <a:effectLst/>
                <a:latin typeface="Arial" panose="020B0604020202020204" pitchFamily="34" charset="0"/>
                <a:cs typeface="Arial" panose="020B0604020202020204" pitchFamily="34" charset="0"/>
              </a:rPr>
              <a:t>(TE0)</a:t>
            </a:r>
          </a:p>
          <a:p>
            <a:pPr lvl="1"/>
            <a:r>
              <a:rPr lang="es-ES" sz="1300" cap="none" dirty="0">
                <a:latin typeface="Arial" panose="020B0604020202020204" pitchFamily="34" charset="0"/>
                <a:cs typeface="Arial" panose="020B0604020202020204" pitchFamily="34" charset="0"/>
              </a:rPr>
              <a:t>n1 = 1’527189 </a:t>
            </a:r>
            <a:r>
              <a:rPr lang="es-ES" sz="1300" b="1" cap="none" dirty="0">
                <a:latin typeface="Arial" panose="020B0604020202020204" pitchFamily="34" charset="0"/>
                <a:cs typeface="Arial" panose="020B0604020202020204" pitchFamily="34" charset="0"/>
              </a:rPr>
              <a:t>(TM0)  ;   </a:t>
            </a:r>
            <a:r>
              <a:rPr lang="es-ES" sz="1300" cap="none" dirty="0">
                <a:latin typeface="Arial" panose="020B0604020202020204" pitchFamily="34" charset="0"/>
                <a:cs typeface="Arial" panose="020B0604020202020204" pitchFamily="34" charset="0"/>
              </a:rPr>
              <a:t>n2 = -0’1579588 </a:t>
            </a:r>
            <a:r>
              <a:rPr lang="es-ES" sz="1300" b="1" cap="none" dirty="0">
                <a:latin typeface="Arial" panose="020B0604020202020204" pitchFamily="34" charset="0"/>
                <a:cs typeface="Arial" panose="020B0604020202020204" pitchFamily="34" charset="0"/>
              </a:rPr>
              <a:t>(TM0)  </a:t>
            </a:r>
            <a:r>
              <a:rPr lang="es-ES" sz="1300" cap="none" dirty="0">
                <a:latin typeface="Arial" panose="020B0604020202020204" pitchFamily="34" charset="0"/>
                <a:cs typeface="Arial" panose="020B0604020202020204" pitchFamily="34" charset="0"/>
              </a:rPr>
              <a:t>;   n3 = 0’1538317 </a:t>
            </a:r>
            <a:r>
              <a:rPr lang="es-ES" sz="1300" b="1" cap="none" dirty="0">
                <a:latin typeface="Arial" panose="020B0604020202020204" pitchFamily="34" charset="0"/>
                <a:cs typeface="Arial" panose="020B0604020202020204" pitchFamily="34" charset="0"/>
              </a:rPr>
              <a:t>(TM0)</a:t>
            </a:r>
          </a:p>
          <a:p>
            <a:pPr marL="228600" lvl="1">
              <a:spcBef>
                <a:spcPts val="1000"/>
              </a:spcBef>
            </a:pPr>
            <a:r>
              <a:rPr lang="es-ES" sz="1300" cap="none" dirty="0">
                <a:latin typeface="Arial" panose="020B0604020202020204" pitchFamily="34" charset="0"/>
                <a:cs typeface="Arial" panose="020B0604020202020204" pitchFamily="34" charset="0"/>
              </a:rPr>
              <a:t>El índice de grupo y el parámetro de dispersión están relacionados con los anteriores coeficientes mediante las siguientes ecuaciones proporcionadas en el notebook:</a:t>
            </a:r>
          </a:p>
          <a:p>
            <a:pPr marL="457200" lvl="2" indent="0">
              <a:spcBef>
                <a:spcPts val="1000"/>
              </a:spcBef>
              <a:buNone/>
            </a:pPr>
            <a:endParaRPr lang="es-ES" sz="1100" cap="none" dirty="0">
              <a:latin typeface="Arial" panose="020B0604020202020204" pitchFamily="34" charset="0"/>
              <a:cs typeface="Arial" panose="020B0604020202020204" pitchFamily="34" charset="0"/>
            </a:endParaRPr>
          </a:p>
          <a:p>
            <a:pPr marL="457200" lvl="2" indent="0">
              <a:spcBef>
                <a:spcPts val="1000"/>
              </a:spcBef>
              <a:buNone/>
            </a:pPr>
            <a:endParaRPr lang="es-ES" sz="1100" cap="none" dirty="0">
              <a:latin typeface="Arial" panose="020B0604020202020204" pitchFamily="34" charset="0"/>
              <a:cs typeface="Arial" panose="020B0604020202020204" pitchFamily="34" charset="0"/>
            </a:endParaRPr>
          </a:p>
          <a:p>
            <a:pPr marL="457200" lvl="2" indent="0">
              <a:spcBef>
                <a:spcPts val="1000"/>
              </a:spcBef>
              <a:buNone/>
            </a:pPr>
            <a:endParaRPr lang="es-ES" sz="1100" cap="none" dirty="0">
              <a:latin typeface="Arial" panose="020B0604020202020204" pitchFamily="34" charset="0"/>
              <a:cs typeface="Arial" panose="020B0604020202020204" pitchFamily="34" charset="0"/>
            </a:endParaRPr>
          </a:p>
          <a:p>
            <a:pPr marL="228600" lvl="2">
              <a:spcBef>
                <a:spcPts val="1000"/>
              </a:spcBef>
            </a:pPr>
            <a:endParaRPr lang="es-ES" sz="1300" cap="none" dirty="0">
              <a:latin typeface="Arial" panose="020B0604020202020204" pitchFamily="34" charset="0"/>
              <a:cs typeface="Arial" panose="020B0604020202020204" pitchFamily="34" charset="0"/>
            </a:endParaRPr>
          </a:p>
          <a:p>
            <a:pPr marL="228600" lvl="2">
              <a:spcBef>
                <a:spcPts val="1000"/>
              </a:spcBef>
            </a:pPr>
            <a:r>
              <a:rPr lang="es-ES" sz="1300" cap="none" dirty="0">
                <a:latin typeface="Arial" panose="020B0604020202020204" pitchFamily="34" charset="0"/>
                <a:cs typeface="Arial" panose="020B0604020202020204" pitchFamily="34" charset="0"/>
              </a:rPr>
              <a:t>El índice efectivo de la guía en función de la longitud de onda viene dado por la siguiente expresión polinómica:</a:t>
            </a:r>
          </a:p>
          <a:p>
            <a:pPr marL="228600" lvl="2">
              <a:spcBef>
                <a:spcPts val="1000"/>
              </a:spcBef>
            </a:pPr>
            <a:r>
              <a:rPr lang="es-ES" sz="1300" cap="none" dirty="0">
                <a:latin typeface="Arial" panose="020B0604020202020204" pitchFamily="34" charset="0"/>
                <a:cs typeface="Arial" panose="020B0604020202020204" pitchFamily="34" charset="0"/>
              </a:rPr>
              <a:t>Si se cumple que </a:t>
            </a:r>
            <a:r>
              <a:rPr lang="el-GR" cap="none" dirty="0">
                <a:latin typeface="Arial" panose="020B0604020202020204" pitchFamily="34" charset="0"/>
                <a:cs typeface="Arial" panose="020B0604020202020204" pitchFamily="34" charset="0"/>
              </a:rPr>
              <a:t>λ</a:t>
            </a:r>
            <a:r>
              <a:rPr lang="es-ES" cap="none" dirty="0">
                <a:latin typeface="Arial" panose="020B0604020202020204" pitchFamily="34" charset="0"/>
                <a:cs typeface="Arial" panose="020B0604020202020204" pitchFamily="34" charset="0"/>
              </a:rPr>
              <a:t> </a:t>
            </a:r>
            <a:r>
              <a:rPr lang="es-ES" sz="1300" cap="none" dirty="0">
                <a:latin typeface="Arial" panose="020B0604020202020204" pitchFamily="34" charset="0"/>
                <a:cs typeface="Arial" panose="020B0604020202020204" pitchFamily="34" charset="0"/>
              </a:rPr>
              <a:t>= </a:t>
            </a:r>
            <a:r>
              <a:rPr lang="el-GR" sz="1600" cap="none" dirty="0">
                <a:latin typeface="Arial" panose="020B0604020202020204" pitchFamily="34" charset="0"/>
                <a:cs typeface="Arial" panose="020B0604020202020204" pitchFamily="34" charset="0"/>
              </a:rPr>
              <a:t>λ</a:t>
            </a:r>
            <a:r>
              <a:rPr lang="es-ES" sz="1600" cap="none" dirty="0">
                <a:latin typeface="Arial" panose="020B0604020202020204" pitchFamily="34" charset="0"/>
                <a:cs typeface="Arial" panose="020B0604020202020204" pitchFamily="34" charset="0"/>
              </a:rPr>
              <a:t>0 </a:t>
            </a:r>
            <a:r>
              <a:rPr lang="es-ES" sz="1300" cap="none" dirty="0">
                <a:latin typeface="Arial" panose="020B0604020202020204" pitchFamily="34" charset="0"/>
                <a:cs typeface="Arial" panose="020B0604020202020204" pitchFamily="34" charset="0"/>
              </a:rPr>
              <a:t>se anulan los coeficientes n2 y n3 quedándonos la siguiente expresión:</a:t>
            </a:r>
            <a:r>
              <a:rPr lang="el-GR" sz="1300" cap="none" dirty="0">
                <a:latin typeface="Arial" panose="020B0604020202020204" pitchFamily="34" charset="0"/>
                <a:cs typeface="Arial" panose="020B0604020202020204" pitchFamily="34" charset="0"/>
              </a:rPr>
              <a:t> </a:t>
            </a:r>
            <a:endParaRPr lang="es-ES" sz="1300" cap="none" dirty="0">
              <a:latin typeface="Arial" panose="020B0604020202020204" pitchFamily="34" charset="0"/>
              <a:cs typeface="Arial" panose="020B0604020202020204" pitchFamily="34" charset="0"/>
            </a:endParaRPr>
          </a:p>
          <a:p>
            <a:pPr marL="285750" lvl="2" indent="-285750">
              <a:spcBef>
                <a:spcPts val="1000"/>
              </a:spcBef>
            </a:pPr>
            <a:r>
              <a:rPr lang="el-GR" sz="1300" cap="none" dirty="0">
                <a:latin typeface="Arial" panose="020B0604020202020204" pitchFamily="34" charset="0"/>
                <a:cs typeface="Arial" panose="020B0604020202020204" pitchFamily="34" charset="0"/>
              </a:rPr>
              <a:t> </a:t>
            </a:r>
            <a:r>
              <a:rPr lang="es-ES" sz="1300" cap="none" dirty="0">
                <a:latin typeface="Arial" panose="020B0604020202020204" pitchFamily="34" charset="0"/>
                <a:cs typeface="Arial" panose="020B0604020202020204" pitchFamily="34" charset="0"/>
              </a:rPr>
              <a:t>Dicha expresión se cumplirá en nuestro caso cuando </a:t>
            </a:r>
            <a:r>
              <a:rPr lang="el-GR" sz="1400" cap="none" dirty="0">
                <a:latin typeface="Arial" panose="020B0604020202020204" pitchFamily="34" charset="0"/>
                <a:cs typeface="Arial" panose="020B0604020202020204" pitchFamily="34" charset="0"/>
              </a:rPr>
              <a:t>λ</a:t>
            </a:r>
            <a:r>
              <a:rPr lang="es-ES" sz="1400" cap="none" dirty="0">
                <a:latin typeface="Arial" panose="020B0604020202020204" pitchFamily="34" charset="0"/>
                <a:cs typeface="Arial" panose="020B0604020202020204" pitchFamily="34" charset="0"/>
              </a:rPr>
              <a:t>0 = 1’55 </a:t>
            </a:r>
            <a:r>
              <a:rPr lang="es-ES" sz="1400" cap="none" dirty="0" err="1">
                <a:latin typeface="Arial" panose="020B0604020202020204" pitchFamily="34" charset="0"/>
                <a:cs typeface="Arial" panose="020B0604020202020204" pitchFamily="34" charset="0"/>
              </a:rPr>
              <a:t>um</a:t>
            </a:r>
            <a:endParaRPr lang="es-ES" sz="1300" cap="none"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D2AA23AB-83F7-84C2-BA52-3FEBD51B30C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346CBB5D-773A-ED0A-7E47-0781175083DC}"/>
              </a:ext>
            </a:extLst>
          </p:cNvPr>
          <p:cNvSpPr>
            <a:spLocks noGrp="1"/>
          </p:cNvSpPr>
          <p:nvPr>
            <p:ph type="sldNum" sz="quarter" idx="7"/>
          </p:nvPr>
        </p:nvSpPr>
        <p:spPr/>
        <p:txBody>
          <a:bodyPr/>
          <a:lstStyle/>
          <a:p>
            <a:fld id="{B6F15528-21DE-4FAA-801E-634DDDAF4B2B}" type="slidenum">
              <a:rPr lang="es-ES" smtClean="0"/>
              <a:t>12</a:t>
            </a:fld>
            <a:endParaRPr lang="es-ES"/>
          </a:p>
        </p:txBody>
      </p:sp>
      <p:pic>
        <p:nvPicPr>
          <p:cNvPr id="7" name="Imagen 6">
            <a:extLst>
              <a:ext uri="{FF2B5EF4-FFF2-40B4-BE49-F238E27FC236}">
                <a16:creationId xmlns:a16="http://schemas.microsoft.com/office/drawing/2014/main" id="{76CD0B79-24F0-74E1-511F-1F325553706F}"/>
              </a:ext>
            </a:extLst>
          </p:cNvPr>
          <p:cNvPicPr>
            <a:picLocks noChangeAspect="1"/>
          </p:cNvPicPr>
          <p:nvPr/>
        </p:nvPicPr>
        <p:blipFill>
          <a:blip r:embed="rId2"/>
          <a:stretch>
            <a:fillRect/>
          </a:stretch>
        </p:blipFill>
        <p:spPr>
          <a:xfrm>
            <a:off x="1828800" y="3847274"/>
            <a:ext cx="2000250" cy="561975"/>
          </a:xfrm>
          <a:prstGeom prst="rect">
            <a:avLst/>
          </a:prstGeom>
        </p:spPr>
      </p:pic>
      <p:pic>
        <p:nvPicPr>
          <p:cNvPr id="9" name="Imagen 8">
            <a:extLst>
              <a:ext uri="{FF2B5EF4-FFF2-40B4-BE49-F238E27FC236}">
                <a16:creationId xmlns:a16="http://schemas.microsoft.com/office/drawing/2014/main" id="{A345FAC2-3711-3238-1FF5-0869CA1B2B84}"/>
              </a:ext>
            </a:extLst>
          </p:cNvPr>
          <p:cNvPicPr>
            <a:picLocks noChangeAspect="1"/>
          </p:cNvPicPr>
          <p:nvPr/>
        </p:nvPicPr>
        <p:blipFill>
          <a:blip r:embed="rId3"/>
          <a:stretch>
            <a:fillRect/>
          </a:stretch>
        </p:blipFill>
        <p:spPr>
          <a:xfrm>
            <a:off x="7543800" y="3660455"/>
            <a:ext cx="2047875" cy="752475"/>
          </a:xfrm>
          <a:prstGeom prst="rect">
            <a:avLst/>
          </a:prstGeom>
        </p:spPr>
      </p:pic>
      <p:sp>
        <p:nvSpPr>
          <p:cNvPr id="12" name="CuadroTexto 11">
            <a:extLst>
              <a:ext uri="{FF2B5EF4-FFF2-40B4-BE49-F238E27FC236}">
                <a16:creationId xmlns:a16="http://schemas.microsoft.com/office/drawing/2014/main" id="{0D322D11-8223-057A-705C-430BE193EAE4}"/>
              </a:ext>
            </a:extLst>
          </p:cNvPr>
          <p:cNvSpPr txBox="1"/>
          <p:nvPr/>
        </p:nvSpPr>
        <p:spPr>
          <a:xfrm>
            <a:off x="1038225" y="4504500"/>
            <a:ext cx="3581400" cy="569387"/>
          </a:xfrm>
          <a:prstGeom prst="rect">
            <a:avLst/>
          </a:prstGeom>
          <a:noFill/>
        </p:spPr>
        <p:txBody>
          <a:bodyPr wrap="square" rtlCol="0">
            <a:spAutoFit/>
          </a:bodyPr>
          <a:lstStyle/>
          <a:p>
            <a:r>
              <a:rPr lang="es-ES" sz="1300" cap="none" dirty="0">
                <a:latin typeface="Arial" panose="020B0604020202020204" pitchFamily="34" charset="0"/>
                <a:cs typeface="Arial" panose="020B0604020202020204" pitchFamily="34" charset="0"/>
              </a:rPr>
              <a:t>ng = 1’939991 </a:t>
            </a:r>
            <a:r>
              <a:rPr lang="es-ES" sz="1300" b="1" cap="none" dirty="0">
                <a:latin typeface="Arial" panose="020B0604020202020204" pitchFamily="34" charset="0"/>
                <a:cs typeface="Arial" panose="020B0604020202020204" pitchFamily="34" charset="0"/>
              </a:rPr>
              <a:t>(TE0)  </a:t>
            </a:r>
            <a:r>
              <a:rPr lang="es-ES" sz="1300" cap="none" dirty="0">
                <a:latin typeface="Arial" panose="020B0604020202020204" pitchFamily="34" charset="0"/>
                <a:cs typeface="Arial" panose="020B0604020202020204" pitchFamily="34" charset="0"/>
              </a:rPr>
              <a:t>;   ng = 1’772025 </a:t>
            </a:r>
            <a:r>
              <a:rPr lang="es-ES" sz="1300" b="1" cap="none" dirty="0">
                <a:latin typeface="Arial" panose="020B0604020202020204" pitchFamily="34" charset="0"/>
                <a:cs typeface="Arial" panose="020B0604020202020204" pitchFamily="34" charset="0"/>
              </a:rPr>
              <a:t>(TM0)</a:t>
            </a:r>
          </a:p>
          <a:p>
            <a:endParaRPr lang="es-ES" dirty="0"/>
          </a:p>
        </p:txBody>
      </p:sp>
      <p:sp>
        <p:nvSpPr>
          <p:cNvPr id="14" name="CuadroTexto 13">
            <a:extLst>
              <a:ext uri="{FF2B5EF4-FFF2-40B4-BE49-F238E27FC236}">
                <a16:creationId xmlns:a16="http://schemas.microsoft.com/office/drawing/2014/main" id="{7CA8AC9B-D514-B273-396C-2F2A5187C57D}"/>
              </a:ext>
            </a:extLst>
          </p:cNvPr>
          <p:cNvSpPr txBox="1"/>
          <p:nvPr/>
        </p:nvSpPr>
        <p:spPr>
          <a:xfrm>
            <a:off x="5672137" y="4496805"/>
            <a:ext cx="5791200" cy="292388"/>
          </a:xfrm>
          <a:prstGeom prst="rect">
            <a:avLst/>
          </a:prstGeom>
          <a:noFill/>
        </p:spPr>
        <p:txBody>
          <a:bodyPr wrap="square" rtlCol="0">
            <a:spAutoFit/>
          </a:bodyPr>
          <a:lstStyle/>
          <a:p>
            <a:r>
              <a:rPr lang="es-ES" sz="1300" dirty="0">
                <a:latin typeface="Arial" panose="020B0604020202020204" pitchFamily="34" charset="0"/>
                <a:cs typeface="Arial" panose="020B0604020202020204" pitchFamily="34" charset="0"/>
              </a:rPr>
              <a:t>D = -1’006002·10^-15 [s^2/m] </a:t>
            </a:r>
            <a:r>
              <a:rPr lang="es-ES" sz="1300" b="1" dirty="0">
                <a:latin typeface="Arial" panose="020B0604020202020204" pitchFamily="34" charset="0"/>
                <a:cs typeface="Arial" panose="020B0604020202020204" pitchFamily="34" charset="0"/>
              </a:rPr>
              <a:t>(TE0) </a:t>
            </a:r>
            <a:r>
              <a:rPr lang="es-ES" sz="1300" dirty="0">
                <a:latin typeface="Arial" panose="020B0604020202020204" pitchFamily="34" charset="0"/>
                <a:cs typeface="Arial" panose="020B0604020202020204" pitchFamily="34" charset="0"/>
              </a:rPr>
              <a:t>;   D = -1’589594·10^-15 [s^2/m] </a:t>
            </a:r>
            <a:r>
              <a:rPr lang="es-ES" sz="1300" b="1" dirty="0">
                <a:latin typeface="Arial" panose="020B0604020202020204" pitchFamily="34" charset="0"/>
                <a:cs typeface="Arial" panose="020B0604020202020204" pitchFamily="34" charset="0"/>
              </a:rPr>
              <a:t>(TM0)</a:t>
            </a:r>
          </a:p>
        </p:txBody>
      </p:sp>
      <p:pic>
        <p:nvPicPr>
          <p:cNvPr id="16" name="Imagen 15">
            <a:extLst>
              <a:ext uri="{FF2B5EF4-FFF2-40B4-BE49-F238E27FC236}">
                <a16:creationId xmlns:a16="http://schemas.microsoft.com/office/drawing/2014/main" id="{EF407602-DB1A-9CB0-7E51-FCED4C38E57A}"/>
              </a:ext>
            </a:extLst>
          </p:cNvPr>
          <p:cNvPicPr>
            <a:picLocks noChangeAspect="1"/>
          </p:cNvPicPr>
          <p:nvPr/>
        </p:nvPicPr>
        <p:blipFill>
          <a:blip r:embed="rId4"/>
          <a:stretch>
            <a:fillRect/>
          </a:stretch>
        </p:blipFill>
        <p:spPr>
          <a:xfrm>
            <a:off x="9158287" y="5011325"/>
            <a:ext cx="2943225" cy="409575"/>
          </a:xfrm>
          <a:prstGeom prst="rect">
            <a:avLst/>
          </a:prstGeom>
        </p:spPr>
      </p:pic>
      <p:pic>
        <p:nvPicPr>
          <p:cNvPr id="18" name="Imagen 17">
            <a:extLst>
              <a:ext uri="{FF2B5EF4-FFF2-40B4-BE49-F238E27FC236}">
                <a16:creationId xmlns:a16="http://schemas.microsoft.com/office/drawing/2014/main" id="{D5525CDC-7765-850F-F350-855496C7CD49}"/>
              </a:ext>
            </a:extLst>
          </p:cNvPr>
          <p:cNvPicPr>
            <a:picLocks noChangeAspect="1"/>
          </p:cNvPicPr>
          <p:nvPr/>
        </p:nvPicPr>
        <p:blipFill>
          <a:blip r:embed="rId5"/>
          <a:stretch>
            <a:fillRect/>
          </a:stretch>
        </p:blipFill>
        <p:spPr>
          <a:xfrm>
            <a:off x="7977187" y="5409477"/>
            <a:ext cx="1014413" cy="361950"/>
          </a:xfrm>
          <a:prstGeom prst="rect">
            <a:avLst/>
          </a:prstGeom>
        </p:spPr>
      </p:pic>
    </p:spTree>
    <p:extLst>
      <p:ext uri="{BB962C8B-B14F-4D97-AF65-F5344CB8AC3E}">
        <p14:creationId xmlns:p14="http://schemas.microsoft.com/office/powerpoint/2010/main" val="1313256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86885-3EFE-A446-D302-3D88D4C7D99B}"/>
              </a:ext>
            </a:extLst>
          </p:cNvPr>
          <p:cNvSpPr>
            <a:spLocks noGrp="1"/>
          </p:cNvSpPr>
          <p:nvPr>
            <p:ph type="title"/>
          </p:nvPr>
        </p:nvSpPr>
        <p:spPr>
          <a:xfrm>
            <a:off x="590550" y="206753"/>
            <a:ext cx="10991850" cy="1393448"/>
          </a:xfrm>
        </p:spPr>
        <p:txBody>
          <a:bodyPr/>
          <a:lstStyle/>
          <a:p>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a:t>
            </a:r>
            <a:endParaRPr lang="es-ES" dirty="0"/>
          </a:p>
        </p:txBody>
      </p:sp>
      <p:sp>
        <p:nvSpPr>
          <p:cNvPr id="3" name="Marcador de texto 2">
            <a:extLst>
              <a:ext uri="{FF2B5EF4-FFF2-40B4-BE49-F238E27FC236}">
                <a16:creationId xmlns:a16="http://schemas.microsoft.com/office/drawing/2014/main" id="{8FA32E7B-A2F8-BAB8-48AC-A8BDB831A7A2}"/>
              </a:ext>
            </a:extLst>
          </p:cNvPr>
          <p:cNvSpPr>
            <a:spLocks noGrp="1"/>
          </p:cNvSpPr>
          <p:nvPr>
            <p:ph type="body" idx="1"/>
          </p:nvPr>
        </p:nvSpPr>
        <p:spPr>
          <a:xfrm>
            <a:off x="609600" y="1600201"/>
            <a:ext cx="10972800" cy="4503419"/>
          </a:xfrm>
        </p:spPr>
        <p:txBody>
          <a:bodyPr/>
          <a:lstStyle/>
          <a:p>
            <a:r>
              <a:rPr lang="es-ES" sz="1300" cap="none" dirty="0">
                <a:latin typeface="Arial" panose="020B0604020202020204" pitchFamily="34" charset="0"/>
                <a:cs typeface="Arial" panose="020B0604020202020204" pitchFamily="34" charset="0"/>
              </a:rPr>
              <a:t>Los coeficientes del polinomio de segundo grado para la </a:t>
            </a:r>
            <a:r>
              <a:rPr lang="es-ES" sz="1300" b="1" u="sng" cap="none" dirty="0">
                <a:latin typeface="Arial" panose="020B0604020202020204" pitchFamily="34" charset="0"/>
                <a:cs typeface="Arial" panose="020B0604020202020204" pitchFamily="34" charset="0"/>
              </a:rPr>
              <a:t>guía </a:t>
            </a:r>
            <a:r>
              <a:rPr lang="es-ES" sz="1300" b="1" u="sng" cap="none" dirty="0" err="1">
                <a:latin typeface="Arial" panose="020B0604020202020204" pitchFamily="34" charset="0"/>
                <a:cs typeface="Arial" panose="020B0604020202020204" pitchFamily="34" charset="0"/>
              </a:rPr>
              <a:t>shallow</a:t>
            </a:r>
            <a:r>
              <a:rPr lang="es-ES" sz="1300" b="1" u="sng" cap="none" dirty="0">
                <a:latin typeface="Arial" panose="020B0604020202020204" pitchFamily="34" charset="0"/>
                <a:cs typeface="Arial" panose="020B0604020202020204" pitchFamily="34" charset="0"/>
              </a:rPr>
              <a:t> </a:t>
            </a:r>
            <a:r>
              <a:rPr lang="es-ES" sz="1300" cap="none" dirty="0">
                <a:latin typeface="Arial" panose="020B0604020202020204" pitchFamily="34" charset="0"/>
                <a:cs typeface="Arial" panose="020B0604020202020204" pitchFamily="34" charset="0"/>
              </a:rPr>
              <a:t>han sido los siguientes:</a:t>
            </a:r>
          </a:p>
          <a:p>
            <a:pPr lvl="1"/>
            <a:r>
              <a:rPr lang="es-ES" sz="1300" cap="none" dirty="0">
                <a:latin typeface="Arial" panose="020B0604020202020204" pitchFamily="34" charset="0"/>
                <a:cs typeface="Arial" panose="020B0604020202020204" pitchFamily="34" charset="0"/>
              </a:rPr>
              <a:t>n1 = 1’624091 </a:t>
            </a:r>
            <a:r>
              <a:rPr lang="es-ES" sz="1300" b="1" i="0" dirty="0">
                <a:effectLst/>
                <a:latin typeface="Arial" panose="020B0604020202020204" pitchFamily="34" charset="0"/>
                <a:cs typeface="Arial" panose="020B0604020202020204" pitchFamily="34" charset="0"/>
              </a:rPr>
              <a:t>(TE0) </a:t>
            </a:r>
            <a:r>
              <a:rPr lang="es-ES" sz="1300" b="1" dirty="0">
                <a:latin typeface="Arial" panose="020B0604020202020204" pitchFamily="34" charset="0"/>
                <a:cs typeface="Arial" panose="020B0604020202020204" pitchFamily="34" charset="0"/>
              </a:rPr>
              <a:t> ;   </a:t>
            </a:r>
            <a:r>
              <a:rPr lang="es-ES" sz="1300" cap="none" dirty="0">
                <a:latin typeface="Arial" panose="020B0604020202020204" pitchFamily="34" charset="0"/>
                <a:cs typeface="Arial" panose="020B0604020202020204" pitchFamily="34" charset="0"/>
              </a:rPr>
              <a:t>n2 = -0’1881749  </a:t>
            </a:r>
            <a:r>
              <a:rPr lang="es-ES" sz="1300" b="1" i="0" dirty="0">
                <a:effectLst/>
                <a:latin typeface="Arial" panose="020B0604020202020204" pitchFamily="34" charset="0"/>
                <a:cs typeface="Arial" panose="020B0604020202020204" pitchFamily="34" charset="0"/>
              </a:rPr>
              <a:t>(TE0)</a:t>
            </a:r>
            <a:r>
              <a:rPr lang="es-ES" sz="1300" b="1" i="0" cap="none" dirty="0">
                <a:effectLst/>
                <a:latin typeface="Arial" panose="020B0604020202020204" pitchFamily="34" charset="0"/>
                <a:cs typeface="Arial" panose="020B0604020202020204" pitchFamily="34" charset="0"/>
              </a:rPr>
              <a:t>  ;   </a:t>
            </a:r>
            <a:r>
              <a:rPr lang="es-ES" sz="1300" cap="none" dirty="0">
                <a:latin typeface="Arial" panose="020B0604020202020204" pitchFamily="34" charset="0"/>
                <a:cs typeface="Arial" panose="020B0604020202020204" pitchFamily="34" charset="0"/>
              </a:rPr>
              <a:t>n3 = 0’0956958 </a:t>
            </a:r>
            <a:r>
              <a:rPr lang="es-ES" sz="1300" b="1" i="0" dirty="0">
                <a:effectLst/>
                <a:latin typeface="Arial" panose="020B0604020202020204" pitchFamily="34" charset="0"/>
                <a:cs typeface="Arial" panose="020B0604020202020204" pitchFamily="34" charset="0"/>
              </a:rPr>
              <a:t>(TE0)</a:t>
            </a:r>
          </a:p>
          <a:p>
            <a:pPr lvl="1"/>
            <a:r>
              <a:rPr lang="es-ES" sz="1300" cap="none" dirty="0">
                <a:latin typeface="Arial" panose="020B0604020202020204" pitchFamily="34" charset="0"/>
                <a:cs typeface="Arial" panose="020B0604020202020204" pitchFamily="34" charset="0"/>
              </a:rPr>
              <a:t>n1 = 1’541895 </a:t>
            </a:r>
            <a:r>
              <a:rPr lang="es-ES" sz="1300" b="1" cap="none" dirty="0">
                <a:latin typeface="Arial" panose="020B0604020202020204" pitchFamily="34" charset="0"/>
                <a:cs typeface="Arial" panose="020B0604020202020204" pitchFamily="34" charset="0"/>
              </a:rPr>
              <a:t>(TM0)  ;   </a:t>
            </a:r>
            <a:r>
              <a:rPr lang="es-ES" sz="1300" cap="none" dirty="0">
                <a:latin typeface="Arial" panose="020B0604020202020204" pitchFamily="34" charset="0"/>
                <a:cs typeface="Arial" panose="020B0604020202020204" pitchFamily="34" charset="0"/>
              </a:rPr>
              <a:t>n2 = -0’1325985 </a:t>
            </a:r>
            <a:r>
              <a:rPr lang="es-ES" sz="1300" b="1" cap="none" dirty="0">
                <a:latin typeface="Arial" panose="020B0604020202020204" pitchFamily="34" charset="0"/>
                <a:cs typeface="Arial" panose="020B0604020202020204" pitchFamily="34" charset="0"/>
              </a:rPr>
              <a:t>(TM0) ;</a:t>
            </a:r>
            <a:r>
              <a:rPr lang="es-ES" sz="1300" cap="none" dirty="0">
                <a:latin typeface="Arial" panose="020B0604020202020204" pitchFamily="34" charset="0"/>
                <a:cs typeface="Arial" panose="020B0604020202020204" pitchFamily="34" charset="0"/>
              </a:rPr>
              <a:t>   n3 = 0’1480118 </a:t>
            </a:r>
            <a:r>
              <a:rPr lang="es-ES" sz="1300" b="1" cap="none" dirty="0">
                <a:latin typeface="Arial" panose="020B0604020202020204" pitchFamily="34" charset="0"/>
                <a:cs typeface="Arial" panose="020B0604020202020204" pitchFamily="34" charset="0"/>
              </a:rPr>
              <a:t>(TM0)</a:t>
            </a:r>
          </a:p>
          <a:p>
            <a:r>
              <a:rPr lang="es-ES" sz="1300" cap="none" dirty="0">
                <a:latin typeface="Arial" panose="020B0604020202020204" pitchFamily="34" charset="0"/>
                <a:cs typeface="Arial" panose="020B0604020202020204" pitchFamily="34" charset="0"/>
              </a:rPr>
              <a:t>El índice de grupo y el parámetro de dispersión se deducen de las expresiones mencionadas en la diapositiva anterior:</a:t>
            </a:r>
          </a:p>
          <a:p>
            <a:pPr marL="0" indent="0">
              <a:buNone/>
            </a:pPr>
            <a:r>
              <a:rPr lang="es-ES" sz="1300" cap="none" dirty="0">
                <a:latin typeface="Arial" panose="020B0604020202020204" pitchFamily="34" charset="0"/>
                <a:cs typeface="Arial" panose="020B0604020202020204" pitchFamily="34" charset="0"/>
              </a:rPr>
              <a:t>	ng =1.915762  </a:t>
            </a:r>
            <a:r>
              <a:rPr lang="es-ES" sz="1300" b="1" cap="none" dirty="0">
                <a:latin typeface="Arial" panose="020B0604020202020204" pitchFamily="34" charset="0"/>
                <a:cs typeface="Arial" panose="020B0604020202020204" pitchFamily="34" charset="0"/>
              </a:rPr>
              <a:t>(TE0)  </a:t>
            </a:r>
            <a:r>
              <a:rPr lang="es-ES" sz="1300" cap="none" dirty="0">
                <a:latin typeface="Arial" panose="020B0604020202020204" pitchFamily="34" charset="0"/>
                <a:cs typeface="Arial" panose="020B0604020202020204" pitchFamily="34" charset="0"/>
              </a:rPr>
              <a:t>;   ng = 1.747423 </a:t>
            </a:r>
            <a:r>
              <a:rPr lang="es-ES" sz="1300" b="1" cap="none" dirty="0">
                <a:latin typeface="Arial" panose="020B0604020202020204" pitchFamily="34" charset="0"/>
                <a:cs typeface="Arial" panose="020B0604020202020204" pitchFamily="34" charset="0"/>
              </a:rPr>
              <a:t>(TM0)</a:t>
            </a:r>
          </a:p>
          <a:p>
            <a:pPr marL="0" indent="0">
              <a:buNone/>
            </a:pPr>
            <a:r>
              <a:rPr lang="es-ES" sz="1300" dirty="0">
                <a:latin typeface="Arial" panose="020B0604020202020204" pitchFamily="34" charset="0"/>
                <a:cs typeface="Arial" panose="020B0604020202020204" pitchFamily="34" charset="0"/>
              </a:rPr>
              <a:t>	D = -9.888566e-16 [s^2/m] </a:t>
            </a:r>
            <a:r>
              <a:rPr lang="es-ES" sz="1300" b="1" dirty="0">
                <a:latin typeface="Arial" panose="020B0604020202020204" pitchFamily="34" charset="0"/>
                <a:cs typeface="Arial" panose="020B0604020202020204" pitchFamily="34" charset="0"/>
              </a:rPr>
              <a:t>(TE0) </a:t>
            </a:r>
            <a:r>
              <a:rPr lang="es-ES" sz="1300" dirty="0">
                <a:latin typeface="Arial" panose="020B0604020202020204" pitchFamily="34" charset="0"/>
                <a:cs typeface="Arial" panose="020B0604020202020204" pitchFamily="34" charset="0"/>
              </a:rPr>
              <a:t>;   D = -1.529455e-15  [s^2/m] </a:t>
            </a:r>
            <a:r>
              <a:rPr lang="es-ES" sz="1300" b="1" dirty="0">
                <a:latin typeface="Arial" panose="020B0604020202020204" pitchFamily="34" charset="0"/>
                <a:cs typeface="Arial" panose="020B0604020202020204" pitchFamily="34" charset="0"/>
              </a:rPr>
              <a:t>(TM0)</a:t>
            </a:r>
          </a:p>
          <a:p>
            <a:r>
              <a:rPr lang="es-ES" sz="1300" cap="none" dirty="0">
                <a:latin typeface="Arial" panose="020B0604020202020204" pitchFamily="34" charset="0"/>
                <a:cs typeface="Arial" panose="020B0604020202020204" pitchFamily="34" charset="0"/>
              </a:rPr>
              <a:t>Al igual que en la anterior diapositiva, si </a:t>
            </a:r>
            <a:r>
              <a:rPr lang="el-GR" sz="1600" cap="none" dirty="0">
                <a:latin typeface="Arial" panose="020B0604020202020204" pitchFamily="34" charset="0"/>
                <a:cs typeface="Arial" panose="020B0604020202020204" pitchFamily="34" charset="0"/>
              </a:rPr>
              <a:t>λ</a:t>
            </a:r>
            <a:r>
              <a:rPr lang="es-ES" sz="1600" cap="none" dirty="0">
                <a:latin typeface="Arial" panose="020B0604020202020204" pitchFamily="34" charset="0"/>
                <a:cs typeface="Arial" panose="020B0604020202020204" pitchFamily="34" charset="0"/>
              </a:rPr>
              <a:t>0</a:t>
            </a:r>
            <a:r>
              <a:rPr lang="es-ES" sz="1300" cap="none" dirty="0">
                <a:latin typeface="Arial" panose="020B0604020202020204" pitchFamily="34" charset="0"/>
                <a:cs typeface="Arial" panose="020B0604020202020204" pitchFamily="34" charset="0"/>
              </a:rPr>
              <a:t> = 1’55 </a:t>
            </a:r>
            <a:r>
              <a:rPr lang="es-ES" sz="1300" cap="none" dirty="0" err="1">
                <a:latin typeface="Arial" panose="020B0604020202020204" pitchFamily="34" charset="0"/>
                <a:cs typeface="Arial" panose="020B0604020202020204" pitchFamily="34" charset="0"/>
              </a:rPr>
              <a:t>um</a:t>
            </a:r>
            <a:r>
              <a:rPr lang="es-ES" sz="1300" cap="none" dirty="0">
                <a:latin typeface="Arial" panose="020B0604020202020204" pitchFamily="34" charset="0"/>
                <a:cs typeface="Arial" panose="020B0604020202020204" pitchFamily="34" charset="0"/>
              </a:rPr>
              <a:t>, entonces se cumple que </a:t>
            </a:r>
            <a:r>
              <a:rPr kumimoji="0" lang="es-E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l-GR"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λ</a:t>
            </a:r>
            <a:r>
              <a:rPr kumimoji="0" lang="es-E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s-E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l-GR"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λ</a:t>
            </a:r>
            <a:r>
              <a:rPr kumimoji="0" lang="es-E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 </a:t>
            </a:r>
            <a:r>
              <a:rPr kumimoji="0" lang="es-ES" sz="13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 por tanto, se nos queda la siguiente expresión:</a:t>
            </a:r>
          </a:p>
          <a:p>
            <a:endParaRPr lang="es-ES" sz="1300" cap="none" dirty="0">
              <a:latin typeface="Arial" panose="020B0604020202020204" pitchFamily="34" charset="0"/>
              <a:cs typeface="Arial" panose="020B0604020202020204" pitchFamily="34" charset="0"/>
            </a:endParaRPr>
          </a:p>
          <a:p>
            <a:pPr marL="0" indent="0">
              <a:buNone/>
            </a:pPr>
            <a:endParaRPr lang="es-ES" sz="1300" b="1" cap="none" dirty="0">
              <a:latin typeface="Arial" panose="020B0604020202020204" pitchFamily="34" charset="0"/>
              <a:cs typeface="Arial" panose="020B0604020202020204" pitchFamily="34" charset="0"/>
            </a:endParaRPr>
          </a:p>
          <a:p>
            <a:pPr marL="0" indent="0">
              <a:buNone/>
            </a:pPr>
            <a:r>
              <a:rPr lang="es-ES" sz="1300" b="1" cap="none" dirty="0">
                <a:latin typeface="Arial" panose="020B0604020202020204" pitchFamily="34" charset="0"/>
                <a:cs typeface="Arial" panose="020B0604020202020204" pitchFamily="34" charset="0"/>
              </a:rPr>
              <a:t>	</a:t>
            </a:r>
          </a:p>
          <a:p>
            <a:endParaRPr lang="es-ES" sz="1300" cap="none"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62748743-7693-CD65-7190-3E6366E3E32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A9D0DA29-89FE-CEAC-6893-BA9258D271A2}"/>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6" name="Imagen 5">
            <a:extLst>
              <a:ext uri="{FF2B5EF4-FFF2-40B4-BE49-F238E27FC236}">
                <a16:creationId xmlns:a16="http://schemas.microsoft.com/office/drawing/2014/main" id="{49880AED-1770-45FD-0FDB-2873BBAC83FD}"/>
              </a:ext>
            </a:extLst>
          </p:cNvPr>
          <p:cNvPicPr>
            <a:picLocks noChangeAspect="1"/>
          </p:cNvPicPr>
          <p:nvPr/>
        </p:nvPicPr>
        <p:blipFill>
          <a:blip r:embed="rId2"/>
          <a:stretch>
            <a:fillRect/>
          </a:stretch>
        </p:blipFill>
        <p:spPr>
          <a:xfrm>
            <a:off x="4572000" y="4343400"/>
            <a:ext cx="1676400" cy="598152"/>
          </a:xfrm>
          <a:prstGeom prst="rect">
            <a:avLst/>
          </a:prstGeom>
        </p:spPr>
      </p:pic>
    </p:spTree>
    <p:extLst>
      <p:ext uri="{BB962C8B-B14F-4D97-AF65-F5344CB8AC3E}">
        <p14:creationId xmlns:p14="http://schemas.microsoft.com/office/powerpoint/2010/main" val="2399949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DE1311-43F3-E80F-DB1F-28D43F65715C}"/>
              </a:ext>
            </a:extLst>
          </p:cNvPr>
          <p:cNvSpPr>
            <a:spLocks noGrp="1"/>
          </p:cNvSpPr>
          <p:nvPr>
            <p:ph type="title"/>
          </p:nvPr>
        </p:nvSpPr>
        <p:spPr>
          <a:xfrm>
            <a:off x="590550" y="206752"/>
            <a:ext cx="10991850" cy="1317248"/>
          </a:xfrm>
        </p:spPr>
        <p:txBody>
          <a:bodyPr>
            <a:normAutofit/>
          </a:bodyPr>
          <a:lstStyle/>
          <a:p>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w=1.2um   - </a:t>
            </a:r>
            <a:r>
              <a:rPr lang="en-US" dirty="0"/>
              <a:t>Shallow</a:t>
            </a:r>
            <a:r>
              <a:rPr lang="en-US" b="0" dirty="0"/>
              <a:t> waveguide, core h=300nm, slab h=150 nm, w = 1.2um</a:t>
            </a:r>
            <a:endParaRPr lang="es-ES" dirty="0"/>
          </a:p>
        </p:txBody>
      </p:sp>
      <p:sp>
        <p:nvSpPr>
          <p:cNvPr id="3" name="Marcador de texto 2">
            <a:extLst>
              <a:ext uri="{FF2B5EF4-FFF2-40B4-BE49-F238E27FC236}">
                <a16:creationId xmlns:a16="http://schemas.microsoft.com/office/drawing/2014/main" id="{379EB8E2-6ACB-CEDF-E203-FA9B761BDCE8}"/>
              </a:ext>
            </a:extLst>
          </p:cNvPr>
          <p:cNvSpPr>
            <a:spLocks noGrp="1"/>
          </p:cNvSpPr>
          <p:nvPr>
            <p:ph type="body" idx="1"/>
          </p:nvPr>
        </p:nvSpPr>
        <p:spPr>
          <a:xfrm>
            <a:off x="609600" y="1524000"/>
            <a:ext cx="10972800" cy="4579620"/>
          </a:xfrm>
        </p:spPr>
        <p:txBody>
          <a:bodyPr>
            <a:normAutofit/>
          </a:bodyPr>
          <a:lstStyle/>
          <a:p>
            <a:r>
              <a:rPr lang="es-ES" sz="1300" b="1" cap="none" dirty="0">
                <a:latin typeface="Arial" panose="020B0604020202020204" pitchFamily="34" charset="0"/>
                <a:cs typeface="Arial" panose="020B0604020202020204" pitchFamily="34" charset="0"/>
              </a:rPr>
              <a:t>Ahora vamos a comentar los resultados gráficos obtenidos en la diapositiva 11.</a:t>
            </a:r>
          </a:p>
          <a:p>
            <a:pPr algn="just"/>
            <a:r>
              <a:rPr lang="es-ES" sz="1300" cap="none" dirty="0">
                <a:latin typeface="Arial" panose="020B0604020202020204" pitchFamily="34" charset="0"/>
                <a:cs typeface="Arial" panose="020B0604020202020204" pitchFamily="34" charset="0"/>
              </a:rPr>
              <a:t>En primer lugar, podemos observar como la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para el modo transversal eléctrico es mayor que para el transversal magnético para sendas guías de ondas ¿Por qué ocurre esto? Estos resultados se dan debido a la geometría de la guía, que es mucho más ancha que alta. El modo TE oscila horizontalmente (a lo ancho), luego tiene mucha más facilidad para quedar confinado en el núcleo de la guía mientras que, el modo TM, que oscila verticalmente, no está tan confinado y sobresale del núcleo de la guía al revestimiento, al tener el núcleo mayor índice de refracción que el revestimiento y al estar el modo TE más confinado en el núcleo que el modo TM esto hace que el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del TE sea mayor que el del TM para todas las longitudes de onda dadas.</a:t>
            </a:r>
          </a:p>
          <a:p>
            <a:pPr algn="just"/>
            <a:r>
              <a:rPr lang="es-ES" sz="1300" cap="none" dirty="0">
                <a:latin typeface="Arial" panose="020B0604020202020204" pitchFamily="34" charset="0"/>
                <a:cs typeface="Arial" panose="020B0604020202020204" pitchFamily="34" charset="0"/>
              </a:rPr>
              <a:t>También podemos apreciar que el modo transversal magnético es menos sensible a los cambios de longitud de onda que el modo transversal eléctrico, dado que en ambas gráficas la pendiente azul es ligeramente menor que la pendiente roja. </a:t>
            </a:r>
          </a:p>
          <a:p>
            <a:pPr algn="just"/>
            <a:r>
              <a:rPr lang="es-ES" sz="1300" cap="none" dirty="0">
                <a:latin typeface="Arial" panose="020B0604020202020204" pitchFamily="34" charset="0"/>
                <a:cs typeface="Arial" panose="020B0604020202020204" pitchFamily="34" charset="0"/>
              </a:rPr>
              <a:t>Por último, la guía </a:t>
            </a:r>
            <a:r>
              <a:rPr lang="es-ES" sz="1300" cap="none" dirty="0" err="1">
                <a:latin typeface="Arial" panose="020B0604020202020204" pitchFamily="34" charset="0"/>
                <a:cs typeface="Arial" panose="020B0604020202020204" pitchFamily="34" charset="0"/>
              </a:rPr>
              <a:t>shallow</a:t>
            </a:r>
            <a:r>
              <a:rPr lang="es-ES" sz="1300" cap="none" dirty="0">
                <a:latin typeface="Arial" panose="020B0604020202020204" pitchFamily="34" charset="0"/>
                <a:cs typeface="Arial" panose="020B0604020202020204" pitchFamily="34" charset="0"/>
              </a:rPr>
              <a:t> tiene, para ambos modos, un </a:t>
            </a:r>
            <a:r>
              <a:rPr lang="es-ES" sz="1300" cap="none" dirty="0" err="1">
                <a:latin typeface="Arial" panose="020B0604020202020204" pitchFamily="34" charset="0"/>
                <a:cs typeface="Arial" panose="020B0604020202020204" pitchFamily="34" charset="0"/>
              </a:rPr>
              <a:t>neff</a:t>
            </a:r>
            <a:r>
              <a:rPr lang="es-ES" sz="1300" cap="none" dirty="0">
                <a:latin typeface="Arial" panose="020B0604020202020204" pitchFamily="34" charset="0"/>
                <a:cs typeface="Arial" panose="020B0604020202020204" pitchFamily="34" charset="0"/>
              </a:rPr>
              <a:t> más grande que en la guía Deep. Este fenómeno ocurre debido al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que posee la guía </a:t>
            </a:r>
            <a:r>
              <a:rPr lang="es-ES" sz="1300" cap="none" dirty="0" err="1">
                <a:latin typeface="Arial" panose="020B0604020202020204" pitchFamily="34" charset="0"/>
                <a:cs typeface="Arial" panose="020B0604020202020204" pitchFamily="34" charset="0"/>
              </a:rPr>
              <a:t>shallow</a:t>
            </a:r>
            <a:r>
              <a:rPr lang="es-ES" sz="1300" cap="none" dirty="0">
                <a:latin typeface="Arial" panose="020B0604020202020204" pitchFamily="34" charset="0"/>
                <a:cs typeface="Arial" panose="020B0604020202020204" pitchFamily="34" charset="0"/>
              </a:rPr>
              <a:t>, dicho “</a:t>
            </a:r>
            <a:r>
              <a:rPr lang="es-ES" sz="1300" cap="none" dirty="0" err="1">
                <a:latin typeface="Arial" panose="020B0604020202020204" pitchFamily="34" charset="0"/>
                <a:cs typeface="Arial" panose="020B0604020202020204" pitchFamily="34" charset="0"/>
              </a:rPr>
              <a:t>slab</a:t>
            </a:r>
            <a:r>
              <a:rPr lang="es-ES" sz="1300" cap="none" dirty="0">
                <a:latin typeface="Arial" panose="020B0604020202020204" pitchFamily="34" charset="0"/>
                <a:cs typeface="Arial" panose="020B0604020202020204" pitchFamily="34" charset="0"/>
              </a:rPr>
              <a:t>” aumenta el volumen del nitruro de silicio (material del núcleo) provocando el aumento del índice de refracción efectivo.</a:t>
            </a:r>
          </a:p>
        </p:txBody>
      </p:sp>
      <p:sp>
        <p:nvSpPr>
          <p:cNvPr id="4" name="Marcador de pie de página 3">
            <a:extLst>
              <a:ext uri="{FF2B5EF4-FFF2-40B4-BE49-F238E27FC236}">
                <a16:creationId xmlns:a16="http://schemas.microsoft.com/office/drawing/2014/main" id="{166623E5-3E24-1C8A-E150-B7F1C808D320}"/>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E31DEBCB-033F-8A9A-AEC9-BA9A06648370}"/>
              </a:ext>
            </a:extLst>
          </p:cNvPr>
          <p:cNvSpPr>
            <a:spLocks noGrp="1"/>
          </p:cNvSpPr>
          <p:nvPr>
            <p:ph type="sldNum" sz="quarter" idx="7"/>
          </p:nvPr>
        </p:nvSpPr>
        <p:spPr/>
        <p:txBody>
          <a:bodyPr/>
          <a:lstStyle/>
          <a:p>
            <a:fld id="{B6F15528-21DE-4FAA-801E-634DDDAF4B2B}" type="slidenum">
              <a:rPr lang="es-ES" smtClean="0"/>
              <a:t>14</a:t>
            </a:fld>
            <a:endParaRPr lang="es-ES"/>
          </a:p>
        </p:txBody>
      </p:sp>
    </p:spTree>
    <p:extLst>
      <p:ext uri="{BB962C8B-B14F-4D97-AF65-F5344CB8AC3E}">
        <p14:creationId xmlns:p14="http://schemas.microsoft.com/office/powerpoint/2010/main" val="357239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15</a:t>
            </a:fld>
            <a:endParaRPr lang="es-ES"/>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2" name="CuadroTexto 1">
            <a:extLst>
              <a:ext uri="{FF2B5EF4-FFF2-40B4-BE49-F238E27FC236}">
                <a16:creationId xmlns:a16="http://schemas.microsoft.com/office/drawing/2014/main" id="{FDE3A197-9508-F9F1-1FEB-FF883D78C151}"/>
              </a:ext>
            </a:extLst>
          </p:cNvPr>
          <p:cNvSpPr txBox="1"/>
          <p:nvPr/>
        </p:nvSpPr>
        <p:spPr>
          <a:xfrm>
            <a:off x="609600" y="4922640"/>
            <a:ext cx="11199971" cy="12464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dirty="0">
              <a:latin typeface="Arial" panose="020B0604020202020204" pitchFamily="34" charset="0"/>
              <a:cs typeface="Arial" panose="020B0604020202020204" pitchFamily="34" charset="0"/>
            </a:endParaRPr>
          </a:p>
          <a:p>
            <a:pPr algn="just"/>
            <a:r>
              <a:rPr lang="en-US" sz="1300" dirty="0">
                <a:latin typeface="Arial" panose="020B0604020202020204" pitchFamily="34" charset="0"/>
                <a:cs typeface="Arial" panose="020B0604020202020204" pitchFamily="34" charset="0"/>
              </a:rPr>
              <a:t>Si </a:t>
            </a:r>
            <a:r>
              <a:rPr lang="en-US" sz="1300" dirty="0" err="1">
                <a:latin typeface="Arial" panose="020B0604020202020204" pitchFamily="34" charset="0"/>
                <a:cs typeface="Arial" panose="020B0604020202020204" pitchFamily="34" charset="0"/>
              </a:rPr>
              <a:t>consideramos</a:t>
            </a:r>
            <a:r>
              <a:rPr lang="en-US" sz="1300" dirty="0">
                <a:latin typeface="Arial" panose="020B0604020202020204" pitchFamily="34" charset="0"/>
                <a:cs typeface="Arial" panose="020B0604020202020204" pitchFamily="34" charset="0"/>
              </a:rPr>
              <a:t> un radio </a:t>
            </a:r>
            <a:r>
              <a:rPr lang="en-US" sz="1300" dirty="0" err="1">
                <a:latin typeface="Arial" panose="020B0604020202020204" pitchFamily="34" charset="0"/>
                <a:cs typeface="Arial" panose="020B0604020202020204" pitchFamily="34" charset="0"/>
              </a:rPr>
              <a:t>seguro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todo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aquel</a:t>
            </a:r>
            <a:r>
              <a:rPr lang="en-US" sz="1300" dirty="0">
                <a:latin typeface="Arial" panose="020B0604020202020204" pitchFamily="34" charset="0"/>
                <a:cs typeface="Arial" panose="020B0604020202020204" pitchFamily="34" charset="0"/>
              </a:rPr>
              <a:t> que no </a:t>
            </a:r>
            <a:r>
              <a:rPr lang="en-US" sz="1300" dirty="0" err="1">
                <a:latin typeface="Arial" panose="020B0604020202020204" pitchFamily="34" charset="0"/>
                <a:cs typeface="Arial" panose="020B0604020202020204" pitchFamily="34" charset="0"/>
              </a:rPr>
              <a:t>produzca</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pérdidas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por</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encima</a:t>
            </a:r>
            <a:r>
              <a:rPr lang="en-US" sz="1300" dirty="0">
                <a:latin typeface="Arial" panose="020B0604020202020204" pitchFamily="34" charset="0"/>
                <a:cs typeface="Arial" panose="020B0604020202020204" pitchFamily="34" charset="0"/>
              </a:rPr>
              <a:t> de 0’1db/90º, </a:t>
            </a:r>
            <a:r>
              <a:rPr lang="en-US" sz="1300" dirty="0" err="1">
                <a:latin typeface="Arial" panose="020B0604020202020204" pitchFamily="34" charset="0"/>
                <a:cs typeface="Arial" panose="020B0604020202020204" pitchFamily="34" charset="0"/>
              </a:rPr>
              <a:t>entonces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tenemos</a:t>
            </a:r>
            <a:r>
              <a:rPr lang="en-US" sz="1300" dirty="0">
                <a:latin typeface="Arial" panose="020B0604020202020204" pitchFamily="34" charset="0"/>
                <a:cs typeface="Arial" panose="020B0604020202020204" pitchFamily="34" charset="0"/>
              </a:rPr>
              <a:t> que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radio es </a:t>
            </a:r>
            <a:r>
              <a:rPr lang="en-US" sz="1300" dirty="0" err="1">
                <a:latin typeface="Arial" panose="020B0604020202020204" pitchFamily="34" charset="0"/>
                <a:cs typeface="Arial" panose="020B0604020202020204" pitchFamily="34" charset="0"/>
              </a:rPr>
              <a:t>seguro</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si</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está</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por</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encima</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los</a:t>
            </a:r>
            <a:r>
              <a:rPr lang="en-US" sz="1300" dirty="0">
                <a:latin typeface="Arial" panose="020B0604020202020204" pitchFamily="34" charset="0"/>
                <a:cs typeface="Arial" panose="020B0604020202020204" pitchFamily="34" charset="0"/>
              </a:rPr>
              <a:t> 30 </a:t>
            </a:r>
            <a:r>
              <a:rPr lang="en-US" sz="1300" dirty="0" err="1">
                <a:latin typeface="Arial" panose="020B0604020202020204" pitchFamily="34" charset="0"/>
                <a:cs typeface="Arial" panose="020B0604020202020204" pitchFamily="34" charset="0"/>
              </a:rPr>
              <a:t>micrómetros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valor </a:t>
            </a:r>
            <a:r>
              <a:rPr lang="en-US" sz="1300" dirty="0" err="1">
                <a:latin typeface="Arial" panose="020B0604020202020204" pitchFamily="34" charset="0"/>
                <a:cs typeface="Arial" panose="020B0604020202020204" pitchFamily="34" charset="0"/>
              </a:rPr>
              <a:t>óptimo</a:t>
            </a:r>
            <a:r>
              <a:rPr lang="en-US" sz="1300" dirty="0">
                <a:latin typeface="Arial" panose="020B0604020202020204" pitchFamily="34" charset="0"/>
                <a:cs typeface="Arial" panose="020B0604020202020204" pitchFamily="34" charset="0"/>
              </a:rPr>
              <a:t> del radio (</a:t>
            </a:r>
            <a:r>
              <a:rPr lang="en-US" sz="1300" dirty="0" err="1">
                <a:latin typeface="Arial" panose="020B0604020202020204" pitchFamily="34" charset="0"/>
                <a:cs typeface="Arial" panose="020B0604020202020204" pitchFamily="34" charset="0"/>
              </a:rPr>
              <a:t>donde</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menos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pérdidas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totales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tenemos</a:t>
            </a:r>
            <a:r>
              <a:rPr lang="en-US" sz="1300" dirty="0">
                <a:latin typeface="Arial" panose="020B0604020202020204" pitchFamily="34" charset="0"/>
                <a:cs typeface="Arial" panose="020B0604020202020204" pitchFamily="34" charset="0"/>
              </a:rPr>
              <a:t>) es de 80 </a:t>
            </a:r>
            <a:r>
              <a:rPr lang="en-US" sz="1300" dirty="0" err="1">
                <a:latin typeface="Arial" panose="020B0604020202020204" pitchFamily="34" charset="0"/>
                <a:cs typeface="Arial" panose="020B0604020202020204" pitchFamily="34" charset="0"/>
              </a:rPr>
              <a:t>micrómetros</a:t>
            </a:r>
            <a:r>
              <a:rPr lang="en-US" sz="1300" dirty="0">
                <a:latin typeface="Arial" panose="020B0604020202020204" pitchFamily="34" charset="0"/>
                <a:cs typeface="Arial" panose="020B0604020202020204" pitchFamily="34" charset="0"/>
              </a:rPr>
              <a:t>. Por </a:t>
            </a:r>
            <a:r>
              <a:rPr lang="en-US" sz="1300" dirty="0" err="1">
                <a:latin typeface="Arial" panose="020B0604020202020204" pitchFamily="34" charset="0"/>
                <a:cs typeface="Arial" panose="020B0604020202020204" pitchFamily="34" charset="0"/>
              </a:rPr>
              <a:t>encima</a:t>
            </a:r>
            <a:r>
              <a:rPr lang="en-US" sz="1300" dirty="0">
                <a:latin typeface="Arial" panose="020B0604020202020204" pitchFamily="34" charset="0"/>
                <a:cs typeface="Arial" panose="020B0604020202020204" pitchFamily="34" charset="0"/>
              </a:rPr>
              <a:t> de </a:t>
            </a:r>
            <a:r>
              <a:rPr lang="en-US" sz="1300" dirty="0" err="1">
                <a:latin typeface="Arial" panose="020B0604020202020204" pitchFamily="34" charset="0"/>
                <a:cs typeface="Arial" panose="020B0604020202020204" pitchFamily="34" charset="0"/>
              </a:rPr>
              <a:t>los</a:t>
            </a:r>
            <a:r>
              <a:rPr lang="en-US" sz="1300" dirty="0">
                <a:latin typeface="Arial" panose="020B0604020202020204" pitchFamily="34" charset="0"/>
                <a:cs typeface="Arial" panose="020B0604020202020204" pitchFamily="34" charset="0"/>
              </a:rPr>
              <a:t> 400 um de radio las </a:t>
            </a:r>
            <a:r>
              <a:rPr lang="en-US" sz="1300" dirty="0" err="1">
                <a:latin typeface="Arial" panose="020B0604020202020204" pitchFamily="34" charset="0"/>
                <a:cs typeface="Arial" panose="020B0604020202020204" pitchFamily="34" charset="0"/>
              </a:rPr>
              <a:t>pérdidas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totales</a:t>
            </a:r>
            <a:r>
              <a:rPr lang="en-US" sz="1300" dirty="0">
                <a:latin typeface="Arial" panose="020B0604020202020204" pitchFamily="34" charset="0"/>
                <a:cs typeface="Arial" panose="020B0604020202020204" pitchFamily="34" charset="0"/>
              </a:rPr>
              <a:t> </a:t>
            </a:r>
            <a:r>
              <a:rPr lang="en-US" sz="1300" dirty="0" err="1">
                <a:latin typeface="Arial" panose="020B0604020202020204" pitchFamily="34" charset="0"/>
                <a:cs typeface="Arial" panose="020B0604020202020204" pitchFamily="34" charset="0"/>
              </a:rPr>
              <a:t>vuelven</a:t>
            </a:r>
            <a:r>
              <a:rPr lang="en-US" sz="1300" dirty="0">
                <a:latin typeface="Arial" panose="020B0604020202020204" pitchFamily="34" charset="0"/>
                <a:cs typeface="Arial" panose="020B0604020202020204" pitchFamily="34" charset="0"/>
              </a:rPr>
              <a:t> a supercar </a:t>
            </a:r>
            <a:r>
              <a:rPr lang="en-US" sz="1300" dirty="0" err="1">
                <a:latin typeface="Arial" panose="020B0604020202020204" pitchFamily="34" charset="0"/>
                <a:cs typeface="Arial" panose="020B0604020202020204" pitchFamily="34" charset="0"/>
              </a:rPr>
              <a:t>el</a:t>
            </a:r>
            <a:r>
              <a:rPr lang="en-US" sz="1300" dirty="0">
                <a:latin typeface="Arial" panose="020B0604020202020204" pitchFamily="34" charset="0"/>
                <a:cs typeface="Arial" panose="020B0604020202020204" pitchFamily="34" charset="0"/>
              </a:rPr>
              <a:t> umbral de </a:t>
            </a:r>
            <a:r>
              <a:rPr lang="en-US" sz="1300" dirty="0" err="1">
                <a:latin typeface="Arial" panose="020B0604020202020204" pitchFamily="34" charset="0"/>
                <a:cs typeface="Arial" panose="020B0604020202020204" pitchFamily="34" charset="0"/>
              </a:rPr>
              <a:t>seguridad</a:t>
            </a:r>
            <a:r>
              <a:rPr lang="en-US" sz="1300" dirty="0">
                <a:latin typeface="Arial" panose="020B0604020202020204" pitchFamily="34" charset="0"/>
                <a:cs typeface="Arial" panose="020B0604020202020204" pitchFamily="34" charset="0"/>
              </a:rPr>
              <a:t> dado de 0’1db/90º.</a:t>
            </a:r>
          </a:p>
          <a:p>
            <a:pPr algn="just"/>
            <a:endParaRPr lang="en-US" sz="1200" u="sng"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331EBD86-BA6C-68C9-2D38-FC8CFBA7ADC4}"/>
              </a:ext>
            </a:extLst>
          </p:cNvPr>
          <p:cNvSpPr txBox="1"/>
          <p:nvPr/>
        </p:nvSpPr>
        <p:spPr>
          <a:xfrm>
            <a:off x="4909523" y="1602338"/>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a:extLst>
              <a:ext uri="{FF2B5EF4-FFF2-40B4-BE49-F238E27FC236}">
                <a16:creationId xmlns:a16="http://schemas.microsoft.com/office/drawing/2014/main" id="{BFA81299-21DE-70EA-E6FD-211A1FA6E1CC}"/>
              </a:ext>
            </a:extLst>
          </p:cNvPr>
          <p:cNvPicPr>
            <a:picLocks noChangeAspect="1"/>
          </p:cNvPicPr>
          <p:nvPr/>
        </p:nvPicPr>
        <p:blipFill>
          <a:blip r:embed="rId5"/>
          <a:stretch>
            <a:fillRect/>
          </a:stretch>
        </p:blipFill>
        <p:spPr>
          <a:xfrm>
            <a:off x="812848" y="1240104"/>
            <a:ext cx="4510023" cy="3495614"/>
          </a:xfrm>
          <a:prstGeom prst="rect">
            <a:avLst/>
          </a:prstGeom>
        </p:spPr>
      </p:pic>
      <p:pic>
        <p:nvPicPr>
          <p:cNvPr id="6" name="Imagen 5">
            <a:extLst>
              <a:ext uri="{FF2B5EF4-FFF2-40B4-BE49-F238E27FC236}">
                <a16:creationId xmlns:a16="http://schemas.microsoft.com/office/drawing/2014/main" id="{1BB4C9E0-AD82-5518-4871-08B32013F13E}"/>
              </a:ext>
            </a:extLst>
          </p:cNvPr>
          <p:cNvPicPr>
            <a:picLocks noChangeAspect="1"/>
          </p:cNvPicPr>
          <p:nvPr/>
        </p:nvPicPr>
        <p:blipFill>
          <a:blip r:embed="rId6"/>
          <a:stretch>
            <a:fillRect/>
          </a:stretch>
        </p:blipFill>
        <p:spPr>
          <a:xfrm>
            <a:off x="5494540" y="1240104"/>
            <a:ext cx="5044615" cy="349561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72AA41-411C-D05D-8B74-709E87484587}"/>
              </a:ext>
            </a:extLst>
          </p:cNvPr>
          <p:cNvSpPr>
            <a:spLocks noGrp="1"/>
          </p:cNvSpPr>
          <p:nvPr>
            <p:ph type="title"/>
          </p:nvPr>
        </p:nvSpPr>
        <p:spPr>
          <a:xfrm>
            <a:off x="590550" y="206752"/>
            <a:ext cx="10991850" cy="692497"/>
          </a:xfrm>
        </p:spPr>
        <p:txBody>
          <a:bodyPr/>
          <a:lstStyle/>
          <a:p>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endParaRPr lang="es-ES" dirty="0"/>
          </a:p>
        </p:txBody>
      </p:sp>
      <p:sp>
        <p:nvSpPr>
          <p:cNvPr id="3" name="Marcador de texto 2">
            <a:extLst>
              <a:ext uri="{FF2B5EF4-FFF2-40B4-BE49-F238E27FC236}">
                <a16:creationId xmlns:a16="http://schemas.microsoft.com/office/drawing/2014/main" id="{A053D052-E79D-C0C2-B684-BD6DA150945C}"/>
              </a:ext>
            </a:extLst>
          </p:cNvPr>
          <p:cNvSpPr>
            <a:spLocks noGrp="1"/>
          </p:cNvSpPr>
          <p:nvPr>
            <p:ph type="body" idx="1"/>
          </p:nvPr>
        </p:nvSpPr>
        <p:spPr>
          <a:xfrm>
            <a:off x="600075" y="1739160"/>
            <a:ext cx="10972800" cy="4128239"/>
          </a:xfrm>
        </p:spPr>
        <p:txBody>
          <a:bodyPr>
            <a:normAutofit/>
          </a:bodyPr>
          <a:lstStyle/>
          <a:p>
            <a:r>
              <a:rPr lang="es-ES" sz="1300" cap="none" dirty="0">
                <a:latin typeface="Arial" panose="020B0604020202020204" pitchFamily="34" charset="0"/>
                <a:cs typeface="Arial" panose="020B0604020202020204" pitchFamily="34" charset="0"/>
              </a:rPr>
              <a:t>Dado que las guías de onda rectas suelen tener el máximo del modo en el centro, la transición de recta a curva (y viceversa) debe tener en cuenta el desplazamiento entre modos. Cuanto menor sea el radio mayor será la curva a tomar y, por tanto, más brusca será la transición de recta a curva, lo que implica más pérdidas de modo, como se aprecia en la gráfica.</a:t>
            </a:r>
          </a:p>
          <a:p>
            <a:endParaRPr lang="es-ES" sz="1300" cap="none" dirty="0">
              <a:latin typeface="Arial" panose="020B0604020202020204" pitchFamily="34" charset="0"/>
              <a:cs typeface="Arial" panose="020B0604020202020204" pitchFamily="34" charset="0"/>
            </a:endParaRPr>
          </a:p>
          <a:p>
            <a:r>
              <a:rPr lang="es-ES" sz="1300" cap="none" dirty="0">
                <a:latin typeface="Arial" panose="020B0604020202020204" pitchFamily="34" charset="0"/>
                <a:cs typeface="Arial" panose="020B0604020202020204" pitchFamily="34" charset="0"/>
              </a:rPr>
              <a:t>Por otro lado, tenemos las pérdidas de propagación, que aumentan según crece el radio de curvatura, esto es lógico porque al aumentar el radio es evidente que la curva tiene más perímetro, lo que implica una mayor distancia a recorrer, una distancia mayor deriva en mayores pérdidas por propagación acumulada a causa de las características del material por el que viaja la luz.</a:t>
            </a:r>
          </a:p>
          <a:p>
            <a:endParaRPr lang="es-ES" sz="1300" cap="none" dirty="0">
              <a:latin typeface="Arial" panose="020B0604020202020204" pitchFamily="34" charset="0"/>
              <a:cs typeface="Arial" panose="020B0604020202020204" pitchFamily="34" charset="0"/>
            </a:endParaRPr>
          </a:p>
          <a:p>
            <a:r>
              <a:rPr lang="es-ES" sz="1300" cap="none" dirty="0">
                <a:latin typeface="Arial" panose="020B0604020202020204" pitchFamily="34" charset="0"/>
                <a:cs typeface="Arial" panose="020B0604020202020204" pitchFamily="34" charset="0"/>
              </a:rPr>
              <a:t>Los puntos verdes representan las pérdidas totales (la suma de las 2 pérdidas anteriormente descritas). Atendiendo a estos puntos verdes observamos que el radio óptimo para minimizar la función es de 80 micrómetros.</a:t>
            </a:r>
          </a:p>
        </p:txBody>
      </p:sp>
      <p:sp>
        <p:nvSpPr>
          <p:cNvPr id="4" name="Marcador de pie de página 3">
            <a:extLst>
              <a:ext uri="{FF2B5EF4-FFF2-40B4-BE49-F238E27FC236}">
                <a16:creationId xmlns:a16="http://schemas.microsoft.com/office/drawing/2014/main" id="{2EEC6ED3-79F5-19E6-BACA-DA3102DF9FBC}"/>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F507FF7E-B026-FFB6-84D1-B157AF76C5A7}"/>
              </a:ext>
            </a:extLst>
          </p:cNvPr>
          <p:cNvSpPr>
            <a:spLocks noGrp="1"/>
          </p:cNvSpPr>
          <p:nvPr>
            <p:ph type="sldNum" sz="quarter" idx="7"/>
          </p:nvPr>
        </p:nvSpPr>
        <p:spPr/>
        <p:txBody>
          <a:bodyPr/>
          <a:lstStyle/>
          <a:p>
            <a:fld id="{B6F15528-21DE-4FAA-801E-634DDDAF4B2B}" type="slidenum">
              <a:rPr lang="es-ES" smtClean="0"/>
              <a:t>16</a:t>
            </a:fld>
            <a:endParaRPr lang="es-ES"/>
          </a:p>
        </p:txBody>
      </p:sp>
    </p:spTree>
    <p:extLst>
      <p:ext uri="{BB962C8B-B14F-4D97-AF65-F5344CB8AC3E}">
        <p14:creationId xmlns:p14="http://schemas.microsoft.com/office/powerpoint/2010/main" val="2359981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320771-DC89-4469-DA14-0D010643EE4C}"/>
              </a:ext>
            </a:extLst>
          </p:cNvPr>
          <p:cNvSpPr>
            <a:spLocks noGrp="1"/>
          </p:cNvSpPr>
          <p:nvPr>
            <p:ph type="title"/>
          </p:nvPr>
        </p:nvSpPr>
        <p:spPr/>
        <p:txBody>
          <a:bodyPr>
            <a:noAutofit/>
          </a:bodyPr>
          <a:lstStyle/>
          <a:p>
            <a:r>
              <a:rPr lang="es-ES" sz="2500" dirty="0"/>
              <a:t>EXTRA – </a:t>
            </a:r>
            <a:r>
              <a:rPr lang="es-ES" sz="2500" dirty="0" err="1"/>
              <a:t>Tecnologia</a:t>
            </a:r>
            <a:r>
              <a:rPr lang="es-ES" sz="2500" dirty="0"/>
              <a:t> </a:t>
            </a:r>
            <a:r>
              <a:rPr lang="es-ES" sz="2500" dirty="0" err="1"/>
              <a:t>soi</a:t>
            </a:r>
            <a:r>
              <a:rPr lang="es-ES" sz="2500" dirty="0"/>
              <a:t>: comportamiento espectral y anchura</a:t>
            </a:r>
          </a:p>
        </p:txBody>
      </p:sp>
      <p:sp>
        <p:nvSpPr>
          <p:cNvPr id="4" name="Marcador de pie de página 3">
            <a:extLst>
              <a:ext uri="{FF2B5EF4-FFF2-40B4-BE49-F238E27FC236}">
                <a16:creationId xmlns:a16="http://schemas.microsoft.com/office/drawing/2014/main" id="{EC927110-0CC3-03BF-043F-FAD5A5ED98E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58093703-AAA9-F12C-B798-457BA79437AD}"/>
              </a:ext>
            </a:extLst>
          </p:cNvPr>
          <p:cNvSpPr>
            <a:spLocks noGrp="1"/>
          </p:cNvSpPr>
          <p:nvPr>
            <p:ph type="sldNum" sz="quarter" idx="7"/>
          </p:nvPr>
        </p:nvSpPr>
        <p:spPr/>
        <p:txBody>
          <a:bodyPr/>
          <a:lstStyle/>
          <a:p>
            <a:fld id="{B6F15528-21DE-4FAA-801E-634DDDAF4B2B}" type="slidenum">
              <a:rPr lang="es-ES" smtClean="0"/>
              <a:t>17</a:t>
            </a:fld>
            <a:endParaRPr lang="es-ES"/>
          </a:p>
        </p:txBody>
      </p:sp>
      <p:pic>
        <p:nvPicPr>
          <p:cNvPr id="9" name="Imagen 8">
            <a:extLst>
              <a:ext uri="{FF2B5EF4-FFF2-40B4-BE49-F238E27FC236}">
                <a16:creationId xmlns:a16="http://schemas.microsoft.com/office/drawing/2014/main" id="{5273C4D0-4087-70ED-DCDB-B67F7BADD1FF}"/>
              </a:ext>
            </a:extLst>
          </p:cNvPr>
          <p:cNvPicPr>
            <a:picLocks noChangeAspect="1"/>
          </p:cNvPicPr>
          <p:nvPr/>
        </p:nvPicPr>
        <p:blipFill>
          <a:blip r:embed="rId2"/>
          <a:stretch>
            <a:fillRect/>
          </a:stretch>
        </p:blipFill>
        <p:spPr>
          <a:xfrm>
            <a:off x="6397847" y="678678"/>
            <a:ext cx="5184553" cy="3024323"/>
          </a:xfrm>
          <a:prstGeom prst="rect">
            <a:avLst/>
          </a:prstGeom>
        </p:spPr>
      </p:pic>
      <p:sp>
        <p:nvSpPr>
          <p:cNvPr id="10" name="CuadroTexto 9">
            <a:extLst>
              <a:ext uri="{FF2B5EF4-FFF2-40B4-BE49-F238E27FC236}">
                <a16:creationId xmlns:a16="http://schemas.microsoft.com/office/drawing/2014/main" id="{88F5201B-C95C-2566-67A7-B06AB8440112}"/>
              </a:ext>
            </a:extLst>
          </p:cNvPr>
          <p:cNvSpPr txBox="1"/>
          <p:nvPr/>
        </p:nvSpPr>
        <p:spPr>
          <a:xfrm>
            <a:off x="584799" y="1905000"/>
            <a:ext cx="5486400" cy="3293209"/>
          </a:xfrm>
          <a:prstGeom prst="rect">
            <a:avLst/>
          </a:prstGeom>
          <a:noFill/>
        </p:spPr>
        <p:txBody>
          <a:bodyPr wrap="square" rtlCol="0">
            <a:spAutoFit/>
          </a:bodyPr>
          <a:lstStyle/>
          <a:p>
            <a:pPr marL="285750" indent="-285750">
              <a:buFont typeface="Arial" panose="020B0604020202020204" pitchFamily="34" charset="0"/>
              <a:buChar char="•"/>
            </a:pPr>
            <a:r>
              <a:rPr lang="es-ES" sz="1300" b="1" dirty="0">
                <a:latin typeface="Arial" panose="020B0604020202020204" pitchFamily="34" charset="0"/>
                <a:cs typeface="Arial" panose="020B0604020202020204" pitchFamily="34" charset="0"/>
              </a:rPr>
              <a:t>Contexto de la Simulación: </a:t>
            </a:r>
            <a:r>
              <a:rPr lang="es-ES" sz="1300" dirty="0">
                <a:latin typeface="Arial" panose="020B0604020202020204" pitchFamily="34" charset="0"/>
                <a:cs typeface="Arial" panose="020B0604020202020204" pitchFamily="34" charset="0"/>
              </a:rPr>
              <a:t>Transición a tecnología Silicon-</a:t>
            </a:r>
            <a:r>
              <a:rPr lang="es-ES" sz="1300" dirty="0" err="1">
                <a:latin typeface="Arial" panose="020B0604020202020204" pitchFamily="34" charset="0"/>
                <a:cs typeface="Arial" panose="020B0604020202020204" pitchFamily="34" charset="0"/>
              </a:rPr>
              <a:t>On</a:t>
            </a:r>
            <a:r>
              <a:rPr lang="es-ES" sz="1300" dirty="0">
                <a:latin typeface="Arial" panose="020B0604020202020204" pitchFamily="34" charset="0"/>
                <a:cs typeface="Arial" panose="020B0604020202020204" pitchFamily="34" charset="0"/>
              </a:rPr>
              <a:t>-</a:t>
            </a:r>
            <a:r>
              <a:rPr lang="es-ES" sz="1300" dirty="0" err="1">
                <a:latin typeface="Arial" panose="020B0604020202020204" pitchFamily="34" charset="0"/>
                <a:cs typeface="Arial" panose="020B0604020202020204" pitchFamily="34" charset="0"/>
              </a:rPr>
              <a:t>Insulator</a:t>
            </a:r>
            <a:r>
              <a:rPr lang="es-ES" sz="1300" dirty="0">
                <a:latin typeface="Arial" panose="020B0604020202020204" pitchFamily="34" charset="0"/>
                <a:cs typeface="Arial" panose="020B0604020202020204" pitchFamily="34" charset="0"/>
              </a:rPr>
              <a:t> (SOI) utilizando Silicio (Si) puro como núcleo y SiO2 como revestimiento. Dimensiones ajustadas a 220 nm de alto y 500 nm de ancho. </a:t>
            </a: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b="1" dirty="0">
                <a:latin typeface="Arial" panose="020B0604020202020204" pitchFamily="34" charset="0"/>
                <a:cs typeface="Arial" panose="020B0604020202020204" pitchFamily="34" charset="0"/>
              </a:rPr>
              <a:t>Comportamiento de Longitud de Onda (1.5 - 1.6 </a:t>
            </a:r>
            <a:r>
              <a:rPr lang="es-ES" sz="1300" b="1" dirty="0" err="1">
                <a:latin typeface="Arial" panose="020B0604020202020204" pitchFamily="34" charset="0"/>
                <a:cs typeface="Arial" panose="020B0604020202020204" pitchFamily="34" charset="0"/>
              </a:rPr>
              <a:t>μm</a:t>
            </a:r>
            <a:r>
              <a:rPr lang="es-ES" sz="1300" b="1" dirty="0">
                <a:latin typeface="Arial" panose="020B0604020202020204" pitchFamily="34" charset="0"/>
                <a:cs typeface="Arial" panose="020B0604020202020204" pitchFamily="34" charset="0"/>
              </a:rPr>
              <a:t>): </a:t>
            </a:r>
            <a:r>
              <a:rPr lang="es-ES" sz="1300" dirty="0">
                <a:latin typeface="Arial" panose="020B0604020202020204" pitchFamily="34" charset="0"/>
                <a:cs typeface="Arial" panose="020B0604020202020204" pitchFamily="34" charset="0"/>
              </a:rPr>
              <a:t>El índice efectivo disminuye al aumentar la longitud de onda, manteniendo el mismo principio físico observado en </a:t>
            </a:r>
            <a:r>
              <a:rPr lang="es-ES" sz="1300" dirty="0" err="1">
                <a:latin typeface="Arial" panose="020B0604020202020204" pitchFamily="34" charset="0"/>
                <a:cs typeface="Arial" panose="020B0604020202020204" pitchFamily="34" charset="0"/>
              </a:rPr>
              <a:t>SiNx</a:t>
            </a:r>
            <a:r>
              <a:rPr lang="es-ES" sz="1300" dirty="0">
                <a:latin typeface="Arial" panose="020B0604020202020204" pitchFamily="34" charset="0"/>
                <a:cs typeface="Arial" panose="020B0604020202020204" pitchFamily="34" charset="0"/>
              </a:rPr>
              <a:t> pero con valores absolutos mucho mayores.</a:t>
            </a:r>
          </a:p>
          <a:p>
            <a:endParaRPr lang="es-ES" sz="13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b="1" dirty="0">
                <a:latin typeface="Arial" panose="020B0604020202020204" pitchFamily="34" charset="0"/>
                <a:cs typeface="Arial" panose="020B0604020202020204" pitchFamily="34" charset="0"/>
              </a:rPr>
              <a:t>Índice Efectivo (</a:t>
            </a:r>
            <a:r>
              <a:rPr lang="es-ES" sz="1300" b="1" dirty="0" err="1">
                <a:latin typeface="Arial" panose="020B0604020202020204" pitchFamily="34" charset="0"/>
                <a:cs typeface="Arial" panose="020B0604020202020204" pitchFamily="34" charset="0"/>
              </a:rPr>
              <a:t>neff</a:t>
            </a:r>
            <a:r>
              <a:rPr lang="es-ES" sz="1300" b="1" dirty="0">
                <a:latin typeface="Arial" panose="020B0604020202020204" pitchFamily="34" charset="0"/>
                <a:cs typeface="Arial" panose="020B0604020202020204" pitchFamily="34" charset="0"/>
              </a:rPr>
              <a:t>) a 1.55 </a:t>
            </a:r>
            <a:r>
              <a:rPr lang="es-ES" sz="1300" b="1" dirty="0" err="1">
                <a:latin typeface="Arial" panose="020B0604020202020204" pitchFamily="34" charset="0"/>
                <a:cs typeface="Arial" panose="020B0604020202020204" pitchFamily="34" charset="0"/>
              </a:rPr>
              <a:t>μm</a:t>
            </a:r>
            <a:r>
              <a:rPr lang="es-ES" sz="1300" b="1" dirty="0">
                <a:latin typeface="Arial" panose="020B0604020202020204" pitchFamily="34" charset="0"/>
                <a:cs typeface="Arial" panose="020B0604020202020204" pitchFamily="34" charset="0"/>
              </a:rPr>
              <a:t>: 2.5113. </a:t>
            </a:r>
          </a:p>
          <a:p>
            <a:pPr marL="285750" indent="-285750">
              <a:buFont typeface="Arial" panose="020B0604020202020204" pitchFamily="34" charset="0"/>
              <a:buChar char="•"/>
            </a:pPr>
            <a:endParaRPr lang="es-ES" sz="13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300" b="1" dirty="0">
                <a:latin typeface="Arial" panose="020B0604020202020204" pitchFamily="34" charset="0"/>
                <a:cs typeface="Arial" panose="020B0604020202020204" pitchFamily="34" charset="0"/>
              </a:rPr>
              <a:t>Dependencia de Anchura (0.3 - 1.0 </a:t>
            </a:r>
            <a:r>
              <a:rPr lang="es-ES" sz="1300" b="1" dirty="0" err="1">
                <a:latin typeface="Arial" panose="020B0604020202020204" pitchFamily="34" charset="0"/>
                <a:cs typeface="Arial" panose="020B0604020202020204" pitchFamily="34" charset="0"/>
              </a:rPr>
              <a:t>μm</a:t>
            </a:r>
            <a:r>
              <a:rPr lang="es-ES" sz="1300" b="1" dirty="0">
                <a:latin typeface="Arial" panose="020B0604020202020204" pitchFamily="34" charset="0"/>
                <a:cs typeface="Arial" panose="020B0604020202020204" pitchFamily="34" charset="0"/>
              </a:rPr>
              <a:t>): </a:t>
            </a:r>
            <a:r>
              <a:rPr lang="es-ES" sz="1300" dirty="0">
                <a:latin typeface="Arial" panose="020B0604020202020204" pitchFamily="34" charset="0"/>
                <a:cs typeface="Arial" panose="020B0604020202020204" pitchFamily="34" charset="0"/>
              </a:rPr>
              <a:t>Al igual que en </a:t>
            </a:r>
            <a:r>
              <a:rPr lang="es-ES" sz="1300" dirty="0" err="1">
                <a:latin typeface="Arial" panose="020B0604020202020204" pitchFamily="34" charset="0"/>
                <a:cs typeface="Arial" panose="020B0604020202020204" pitchFamily="34" charset="0"/>
              </a:rPr>
              <a:t>SiNx</a:t>
            </a:r>
            <a:r>
              <a:rPr lang="es-ES" sz="1300" dirty="0">
                <a:latin typeface="Arial" panose="020B0604020202020204" pitchFamily="34" charset="0"/>
                <a:cs typeface="Arial" panose="020B0604020202020204" pitchFamily="34" charset="0"/>
              </a:rPr>
              <a:t>, el índice efectivo de todos los modos aumenta progresivamente a medida que ensanchamos la guía, acercándose asintóticamente al índice de refracción del Silicio.</a:t>
            </a:r>
          </a:p>
        </p:txBody>
      </p:sp>
      <p:pic>
        <p:nvPicPr>
          <p:cNvPr id="6" name="Imagen 5">
            <a:extLst>
              <a:ext uri="{FF2B5EF4-FFF2-40B4-BE49-F238E27FC236}">
                <a16:creationId xmlns:a16="http://schemas.microsoft.com/office/drawing/2014/main" id="{3BF3F4B8-F23E-B957-0B4F-8160897F1FEB}"/>
              </a:ext>
            </a:extLst>
          </p:cNvPr>
          <p:cNvPicPr>
            <a:picLocks noChangeAspect="1"/>
          </p:cNvPicPr>
          <p:nvPr/>
        </p:nvPicPr>
        <p:blipFill>
          <a:blip r:embed="rId3"/>
          <a:stretch>
            <a:fillRect/>
          </a:stretch>
        </p:blipFill>
        <p:spPr>
          <a:xfrm>
            <a:off x="6422649" y="3729990"/>
            <a:ext cx="5184552" cy="2990850"/>
          </a:xfrm>
          <a:prstGeom prst="rect">
            <a:avLst/>
          </a:prstGeom>
        </p:spPr>
      </p:pic>
    </p:spTree>
    <p:extLst>
      <p:ext uri="{BB962C8B-B14F-4D97-AF65-F5344CB8AC3E}">
        <p14:creationId xmlns:p14="http://schemas.microsoft.com/office/powerpoint/2010/main" val="644464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C56094-04B3-1D8F-6423-536A65EB70F1}"/>
              </a:ext>
            </a:extLst>
          </p:cNvPr>
          <p:cNvSpPr>
            <a:spLocks noGrp="1"/>
          </p:cNvSpPr>
          <p:nvPr>
            <p:ph type="title"/>
          </p:nvPr>
        </p:nvSpPr>
        <p:spPr/>
        <p:txBody>
          <a:bodyPr/>
          <a:lstStyle/>
          <a:p>
            <a:r>
              <a:rPr lang="es-ES" dirty="0"/>
              <a:t>EXTRA – Matriz de Comparativa: </a:t>
            </a:r>
            <a:r>
              <a:rPr lang="es-ES" dirty="0" err="1"/>
              <a:t>sinx</a:t>
            </a:r>
            <a:r>
              <a:rPr lang="es-ES" dirty="0"/>
              <a:t> vs </a:t>
            </a:r>
            <a:r>
              <a:rPr lang="es-ES" dirty="0" err="1"/>
              <a:t>soi</a:t>
            </a:r>
            <a:r>
              <a:rPr lang="es-ES" dirty="0"/>
              <a:t> (</a:t>
            </a:r>
            <a:r>
              <a:rPr lang="es-ES" dirty="0" err="1"/>
              <a:t>waveguides</a:t>
            </a:r>
            <a:r>
              <a:rPr lang="es-ES" dirty="0"/>
              <a:t>)</a:t>
            </a:r>
          </a:p>
        </p:txBody>
      </p:sp>
      <p:sp>
        <p:nvSpPr>
          <p:cNvPr id="4" name="Marcador de pie de página 3">
            <a:extLst>
              <a:ext uri="{FF2B5EF4-FFF2-40B4-BE49-F238E27FC236}">
                <a16:creationId xmlns:a16="http://schemas.microsoft.com/office/drawing/2014/main" id="{B4048B11-B4AA-6AE5-19B6-BD58DE0EDC6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419C43B8-17D8-A620-4181-0D3C59EF94DF}"/>
              </a:ext>
            </a:extLst>
          </p:cNvPr>
          <p:cNvSpPr>
            <a:spLocks noGrp="1"/>
          </p:cNvSpPr>
          <p:nvPr>
            <p:ph type="sldNum" sz="quarter" idx="7"/>
          </p:nvPr>
        </p:nvSpPr>
        <p:spPr/>
        <p:txBody>
          <a:bodyPr/>
          <a:lstStyle/>
          <a:p>
            <a:fld id="{B6F15528-21DE-4FAA-801E-634DDDAF4B2B}" type="slidenum">
              <a:rPr lang="es-ES" smtClean="0"/>
              <a:t>18</a:t>
            </a:fld>
            <a:endParaRPr lang="es-ES"/>
          </a:p>
        </p:txBody>
      </p:sp>
      <p:pic>
        <p:nvPicPr>
          <p:cNvPr id="7" name="Imagen 6">
            <a:extLst>
              <a:ext uri="{FF2B5EF4-FFF2-40B4-BE49-F238E27FC236}">
                <a16:creationId xmlns:a16="http://schemas.microsoft.com/office/drawing/2014/main" id="{003DE968-F4B2-159E-9A55-EB3CE2E0733A}"/>
              </a:ext>
            </a:extLst>
          </p:cNvPr>
          <p:cNvPicPr>
            <a:picLocks noChangeAspect="1"/>
          </p:cNvPicPr>
          <p:nvPr/>
        </p:nvPicPr>
        <p:blipFill>
          <a:blip r:embed="rId2"/>
          <a:stretch>
            <a:fillRect/>
          </a:stretch>
        </p:blipFill>
        <p:spPr>
          <a:xfrm>
            <a:off x="7101840" y="2785302"/>
            <a:ext cx="4648200" cy="3671755"/>
          </a:xfrm>
          <a:prstGeom prst="rect">
            <a:avLst/>
          </a:prstGeom>
        </p:spPr>
      </p:pic>
      <p:pic>
        <p:nvPicPr>
          <p:cNvPr id="9" name="Imagen 8">
            <a:extLst>
              <a:ext uri="{FF2B5EF4-FFF2-40B4-BE49-F238E27FC236}">
                <a16:creationId xmlns:a16="http://schemas.microsoft.com/office/drawing/2014/main" id="{5CFAB3B2-5B64-7092-B88D-2CFF52E5D02F}"/>
              </a:ext>
            </a:extLst>
          </p:cNvPr>
          <p:cNvPicPr>
            <a:picLocks noChangeAspect="1"/>
          </p:cNvPicPr>
          <p:nvPr/>
        </p:nvPicPr>
        <p:blipFill>
          <a:blip r:embed="rId3"/>
          <a:stretch>
            <a:fillRect/>
          </a:stretch>
        </p:blipFill>
        <p:spPr>
          <a:xfrm>
            <a:off x="1143000" y="2775777"/>
            <a:ext cx="4648200" cy="3671755"/>
          </a:xfrm>
          <a:prstGeom prst="rect">
            <a:avLst/>
          </a:prstGeom>
        </p:spPr>
      </p:pic>
      <p:sp>
        <p:nvSpPr>
          <p:cNvPr id="10" name="CuadroTexto 9">
            <a:extLst>
              <a:ext uri="{FF2B5EF4-FFF2-40B4-BE49-F238E27FC236}">
                <a16:creationId xmlns:a16="http://schemas.microsoft.com/office/drawing/2014/main" id="{713796CC-5AE4-0632-9827-1A475B4DD957}"/>
              </a:ext>
            </a:extLst>
          </p:cNvPr>
          <p:cNvSpPr txBox="1"/>
          <p:nvPr/>
        </p:nvSpPr>
        <p:spPr>
          <a:xfrm>
            <a:off x="6934200" y="533400"/>
            <a:ext cx="4815840" cy="2569934"/>
          </a:xfrm>
          <a:prstGeom prst="rect">
            <a:avLst/>
          </a:prstGeom>
          <a:noFill/>
        </p:spPr>
        <p:txBody>
          <a:bodyPr wrap="square" rtlCol="0">
            <a:spAutoFit/>
          </a:bodyPr>
          <a:lstStyle/>
          <a:p>
            <a:r>
              <a:rPr lang="es-ES" sz="1300" b="1" dirty="0">
                <a:latin typeface="Arial" panose="020B0604020202020204" pitchFamily="34" charset="0"/>
                <a:cs typeface="Arial" panose="020B0604020202020204" pitchFamily="34" charset="0"/>
              </a:rPr>
              <a:t>Conclusiones Clave:</a:t>
            </a:r>
          </a:p>
          <a:p>
            <a:pPr marL="285750" indent="-285750" algn="just">
              <a:buFont typeface="Arial" panose="020B0604020202020204" pitchFamily="34" charset="0"/>
              <a:buChar char="•"/>
            </a:pPr>
            <a:r>
              <a:rPr lang="es-ES" sz="1300" b="1" dirty="0">
                <a:latin typeface="Arial" panose="020B0604020202020204" pitchFamily="34" charset="0"/>
                <a:cs typeface="Arial" panose="020B0604020202020204" pitchFamily="34" charset="0"/>
              </a:rPr>
              <a:t>Confinamiento extremo:</a:t>
            </a:r>
            <a:r>
              <a:rPr lang="es-ES" sz="1300" dirty="0">
                <a:latin typeface="Arial" panose="020B0604020202020204" pitchFamily="34" charset="0"/>
                <a:cs typeface="Arial" panose="020B0604020202020204" pitchFamily="34" charset="0"/>
              </a:rPr>
              <a:t> La tecnología SOI ofrece un confinamiento de la luz drásticamente superior debido al alto contraste de índices. Esto permite curvas extremadamente cerradas (radio seguro de solo 5 µm frente a 30 µm), ideal para fotónica de </a:t>
            </a:r>
            <a:r>
              <a:rPr lang="es-ES" sz="1300" dirty="0" err="1">
                <a:latin typeface="Arial" panose="020B0604020202020204" pitchFamily="34" charset="0"/>
                <a:cs typeface="Arial" panose="020B0604020202020204" pitchFamily="34" charset="0"/>
              </a:rPr>
              <a:t>ultra-alta</a:t>
            </a:r>
            <a:r>
              <a:rPr lang="es-ES" sz="1300" dirty="0">
                <a:latin typeface="Arial" panose="020B0604020202020204" pitchFamily="34" charset="0"/>
                <a:cs typeface="Arial" panose="020B0604020202020204" pitchFamily="34" charset="0"/>
              </a:rPr>
              <a:t> densidad.</a:t>
            </a:r>
          </a:p>
          <a:p>
            <a:pPr marL="285750" indent="-285750">
              <a:buFont typeface="Arial" panose="020B0604020202020204" pitchFamily="34" charset="0"/>
              <a:buChar char="•"/>
            </a:pPr>
            <a:endParaRPr lang="es-ES" sz="1300"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s-ES" sz="1300" b="1" dirty="0">
                <a:latin typeface="Arial" panose="020B0604020202020204" pitchFamily="34" charset="0"/>
                <a:cs typeface="Arial" panose="020B0604020202020204" pitchFamily="34" charset="0"/>
              </a:rPr>
              <a:t>El compromiso de las pérdidas:</a:t>
            </a:r>
            <a:r>
              <a:rPr lang="es-ES" sz="1300" dirty="0">
                <a:latin typeface="Arial" panose="020B0604020202020204" pitchFamily="34" charset="0"/>
                <a:cs typeface="Arial" panose="020B0604020202020204" pitchFamily="34" charset="0"/>
              </a:rPr>
              <a:t> Como contrapartida física, el silicio en SOI duplica las pérdidas por propagación inherentes (3.0 dB/cm frente a los 1.5 dB/cm del </a:t>
            </a:r>
            <a:r>
              <a:rPr lang="es-ES" sz="1300" dirty="0" err="1">
                <a:latin typeface="Arial" panose="020B0604020202020204" pitchFamily="34" charset="0"/>
                <a:cs typeface="Arial" panose="020B0604020202020204" pitchFamily="34" charset="0"/>
              </a:rPr>
              <a:t>SiNx</a:t>
            </a:r>
            <a:r>
              <a:rPr lang="es-ES" sz="1300" dirty="0">
                <a:latin typeface="Arial" panose="020B0604020202020204" pitchFamily="34" charset="0"/>
                <a:cs typeface="Arial" panose="020B0604020202020204" pitchFamily="34" charset="0"/>
              </a:rPr>
              <a:t>)</a:t>
            </a:r>
          </a:p>
          <a:p>
            <a:endParaRPr lang="es-ES" dirty="0"/>
          </a:p>
        </p:txBody>
      </p:sp>
      <p:graphicFrame>
        <p:nvGraphicFramePr>
          <p:cNvPr id="11" name="Tabla 10">
            <a:extLst>
              <a:ext uri="{FF2B5EF4-FFF2-40B4-BE49-F238E27FC236}">
                <a16:creationId xmlns:a16="http://schemas.microsoft.com/office/drawing/2014/main" id="{307E8262-CD45-6D56-FF1D-F0E4817EB00F}"/>
              </a:ext>
            </a:extLst>
          </p:cNvPr>
          <p:cNvGraphicFramePr>
            <a:graphicFrameLocks noGrp="1"/>
          </p:cNvGraphicFramePr>
          <p:nvPr>
            <p:extLst>
              <p:ext uri="{D42A27DB-BD31-4B8C-83A1-F6EECF244321}">
                <p14:modId xmlns:p14="http://schemas.microsoft.com/office/powerpoint/2010/main" val="2225444761"/>
              </p:ext>
            </p:extLst>
          </p:nvPr>
        </p:nvGraphicFramePr>
        <p:xfrm>
          <a:off x="716280" y="632520"/>
          <a:ext cx="5501639" cy="2148840"/>
        </p:xfrm>
        <a:graphic>
          <a:graphicData uri="http://schemas.openxmlformats.org/drawingml/2006/table">
            <a:tbl>
              <a:tblPr firstRow="1" bandRow="1">
                <a:tableStyleId>{00A15C55-8517-42AA-B614-E9B94910E393}</a:tableStyleId>
              </a:tblPr>
              <a:tblGrid>
                <a:gridCol w="1040111">
                  <a:extLst>
                    <a:ext uri="{9D8B030D-6E8A-4147-A177-3AD203B41FA5}">
                      <a16:colId xmlns:a16="http://schemas.microsoft.com/office/drawing/2014/main" val="3600172489"/>
                    </a:ext>
                  </a:extLst>
                </a:gridCol>
                <a:gridCol w="2189707">
                  <a:extLst>
                    <a:ext uri="{9D8B030D-6E8A-4147-A177-3AD203B41FA5}">
                      <a16:colId xmlns:a16="http://schemas.microsoft.com/office/drawing/2014/main" val="1128206778"/>
                    </a:ext>
                  </a:extLst>
                </a:gridCol>
                <a:gridCol w="2271821">
                  <a:extLst>
                    <a:ext uri="{9D8B030D-6E8A-4147-A177-3AD203B41FA5}">
                      <a16:colId xmlns:a16="http://schemas.microsoft.com/office/drawing/2014/main" val="1673330630"/>
                    </a:ext>
                  </a:extLst>
                </a:gridCol>
              </a:tblGrid>
              <a:tr h="279362">
                <a:tc>
                  <a:txBody>
                    <a:bodyPr/>
                    <a:lstStyle/>
                    <a:p>
                      <a:r>
                        <a:rPr lang="es-ES" sz="1300" dirty="0">
                          <a:latin typeface="Arial" panose="020B0604020202020204" pitchFamily="34" charset="0"/>
                          <a:cs typeface="Arial" panose="020B0604020202020204" pitchFamily="34" charset="0"/>
                        </a:rPr>
                        <a:t>Parámetro</a:t>
                      </a:r>
                    </a:p>
                  </a:txBody>
                  <a:tcPr/>
                </a:tc>
                <a:tc>
                  <a:txBody>
                    <a:bodyPr/>
                    <a:lstStyle/>
                    <a:p>
                      <a:r>
                        <a:rPr lang="es-ES" sz="1300" dirty="0" err="1">
                          <a:latin typeface="Arial" panose="020B0604020202020204" pitchFamily="34" charset="0"/>
                          <a:cs typeface="Arial" panose="020B0604020202020204" pitchFamily="34" charset="0"/>
                        </a:rPr>
                        <a:t>SiNx</a:t>
                      </a:r>
                      <a:r>
                        <a:rPr lang="es-ES" sz="1300" dirty="0">
                          <a:latin typeface="Arial" panose="020B0604020202020204" pitchFamily="34" charset="0"/>
                          <a:cs typeface="Arial" panose="020B0604020202020204" pitchFamily="34" charset="0"/>
                        </a:rPr>
                        <a:t>(Deep </a:t>
                      </a:r>
                      <a:r>
                        <a:rPr lang="es-ES" sz="1300" dirty="0" err="1">
                          <a:latin typeface="Arial" panose="020B0604020202020204" pitchFamily="34" charset="0"/>
                          <a:cs typeface="Arial" panose="020B0604020202020204" pitchFamily="34" charset="0"/>
                        </a:rPr>
                        <a:t>Waveguide</a:t>
                      </a:r>
                      <a:r>
                        <a:rPr lang="es-ES" sz="1300" dirty="0">
                          <a:latin typeface="Arial" panose="020B0604020202020204" pitchFamily="34" charset="0"/>
                          <a:cs typeface="Arial" panose="020B0604020202020204" pitchFamily="34" charset="0"/>
                        </a:rPr>
                        <a:t>)</a:t>
                      </a:r>
                    </a:p>
                  </a:txBody>
                  <a:tcPr/>
                </a:tc>
                <a:tc>
                  <a:txBody>
                    <a:bodyPr/>
                    <a:lstStyle/>
                    <a:p>
                      <a:r>
                        <a:rPr lang="es-ES" sz="1300" dirty="0">
                          <a:latin typeface="Arial" panose="020B0604020202020204" pitchFamily="34" charset="0"/>
                          <a:cs typeface="Arial" panose="020B0604020202020204" pitchFamily="34" charset="0"/>
                        </a:rPr>
                        <a:t>SOI (</a:t>
                      </a:r>
                      <a:r>
                        <a:rPr lang="es-ES" sz="1300" dirty="0" err="1">
                          <a:latin typeface="Arial" panose="020B0604020202020204" pitchFamily="34" charset="0"/>
                          <a:cs typeface="Arial" panose="020B0604020202020204" pitchFamily="34" charset="0"/>
                        </a:rPr>
                        <a:t>Deeep</a:t>
                      </a:r>
                      <a:r>
                        <a:rPr lang="es-ES" sz="1300" dirty="0">
                          <a:latin typeface="Arial" panose="020B0604020202020204" pitchFamily="34" charset="0"/>
                          <a:cs typeface="Arial" panose="020B0604020202020204" pitchFamily="34" charset="0"/>
                        </a:rPr>
                        <a:t> </a:t>
                      </a:r>
                      <a:r>
                        <a:rPr lang="es-ES" sz="1300" dirty="0" err="1">
                          <a:latin typeface="Arial" panose="020B0604020202020204" pitchFamily="34" charset="0"/>
                          <a:cs typeface="Arial" panose="020B0604020202020204" pitchFamily="34" charset="0"/>
                        </a:rPr>
                        <a:t>Waveguide</a:t>
                      </a:r>
                      <a:r>
                        <a:rPr lang="es-ES" sz="13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9616146"/>
                  </a:ext>
                </a:extLst>
              </a:tr>
              <a:tr h="372483">
                <a:tc>
                  <a:txBody>
                    <a:bodyPr/>
                    <a:lstStyle/>
                    <a:p>
                      <a:r>
                        <a:rPr lang="es-ES" sz="1300" b="1" dirty="0" err="1">
                          <a:latin typeface="Arial" panose="020B0604020202020204" pitchFamily="34" charset="0"/>
                          <a:cs typeface="Arial" panose="020B0604020202020204" pitchFamily="34" charset="0"/>
                        </a:rPr>
                        <a:t>Neff</a:t>
                      </a:r>
                      <a:r>
                        <a:rPr lang="es-ES" sz="1300" b="1" dirty="0">
                          <a:latin typeface="Arial" panose="020B0604020202020204" pitchFamily="34" charset="0"/>
                          <a:cs typeface="Arial" panose="020B0604020202020204" pitchFamily="34" charset="0"/>
                        </a:rPr>
                        <a:t> @ 1,55 µm</a:t>
                      </a:r>
                    </a:p>
                  </a:txBody>
                  <a:tcPr/>
                </a:tc>
                <a:tc>
                  <a:txBody>
                    <a:bodyPr/>
                    <a:lstStyle/>
                    <a:p>
                      <a:r>
                        <a:rPr lang="es-ES" sz="1300" dirty="0">
                          <a:latin typeface="Arial" panose="020B0604020202020204" pitchFamily="34" charset="0"/>
                          <a:cs typeface="Arial" panose="020B0604020202020204" pitchFamily="34" charset="0"/>
                        </a:rPr>
                        <a:t>1,6049</a:t>
                      </a:r>
                    </a:p>
                  </a:txBody>
                  <a:tcPr/>
                </a:tc>
                <a:tc>
                  <a:txBody>
                    <a:bodyPr/>
                    <a:lstStyle/>
                    <a:p>
                      <a:r>
                        <a:rPr lang="es-ES" sz="1300" dirty="0">
                          <a:latin typeface="Arial" panose="020B0604020202020204" pitchFamily="34" charset="0"/>
                          <a:cs typeface="Arial" panose="020B0604020202020204" pitchFamily="34" charset="0"/>
                        </a:rPr>
                        <a:t>2,5113</a:t>
                      </a:r>
                    </a:p>
                  </a:txBody>
                  <a:tcPr/>
                </a:tc>
                <a:extLst>
                  <a:ext uri="{0D108BD9-81ED-4DB2-BD59-A6C34878D82A}">
                    <a16:rowId xmlns:a16="http://schemas.microsoft.com/office/drawing/2014/main" val="2521245359"/>
                  </a:ext>
                </a:extLst>
              </a:tr>
              <a:tr h="523804">
                <a:tc>
                  <a:txBody>
                    <a:bodyPr/>
                    <a:lstStyle/>
                    <a:p>
                      <a:r>
                        <a:rPr lang="es-ES" sz="1300" b="1" dirty="0" err="1">
                          <a:latin typeface="Arial" panose="020B0604020202020204" pitchFamily="34" charset="0"/>
                          <a:cs typeface="Arial" panose="020B0604020202020204" pitchFamily="34" charset="0"/>
                        </a:rPr>
                        <a:t>Péridas</a:t>
                      </a:r>
                      <a:r>
                        <a:rPr lang="es-ES" sz="1300" b="1" dirty="0">
                          <a:latin typeface="Arial" panose="020B0604020202020204" pitchFamily="34" charset="0"/>
                          <a:cs typeface="Arial" panose="020B0604020202020204" pitchFamily="34" charset="0"/>
                        </a:rPr>
                        <a:t> de propagación</a:t>
                      </a:r>
                    </a:p>
                  </a:txBody>
                  <a:tcPr/>
                </a:tc>
                <a:tc>
                  <a:txBody>
                    <a:bodyPr/>
                    <a:lstStyle/>
                    <a:p>
                      <a:r>
                        <a:rPr lang="es-ES" sz="1300" dirty="0">
                          <a:latin typeface="Arial" panose="020B0604020202020204" pitchFamily="34" charset="0"/>
                          <a:cs typeface="Arial" panose="020B0604020202020204" pitchFamily="34" charset="0"/>
                        </a:rPr>
                        <a:t>1,5 dB/cm</a:t>
                      </a:r>
                    </a:p>
                  </a:txBody>
                  <a:tcPr/>
                </a:tc>
                <a:tc>
                  <a:txBody>
                    <a:bodyPr/>
                    <a:lstStyle/>
                    <a:p>
                      <a:r>
                        <a:rPr lang="es-ES" sz="1300" dirty="0">
                          <a:latin typeface="Arial" panose="020B0604020202020204" pitchFamily="34" charset="0"/>
                          <a:cs typeface="Arial" panose="020B0604020202020204" pitchFamily="34" charset="0"/>
                        </a:rPr>
                        <a:t>3,0 dB/cm</a:t>
                      </a:r>
                    </a:p>
                  </a:txBody>
                  <a:tcPr/>
                </a:tc>
                <a:extLst>
                  <a:ext uri="{0D108BD9-81ED-4DB2-BD59-A6C34878D82A}">
                    <a16:rowId xmlns:a16="http://schemas.microsoft.com/office/drawing/2014/main" val="1429984900"/>
                  </a:ext>
                </a:extLst>
              </a:tr>
              <a:tr h="523804">
                <a:tc>
                  <a:txBody>
                    <a:bodyPr/>
                    <a:lstStyle/>
                    <a:p>
                      <a:r>
                        <a:rPr lang="es-ES" sz="1300" b="1" dirty="0">
                          <a:latin typeface="Arial" panose="020B0604020202020204" pitchFamily="34" charset="0"/>
                          <a:cs typeface="Arial" panose="020B0604020202020204" pitchFamily="34" charset="0"/>
                        </a:rPr>
                        <a:t>Radio de curva seguro</a:t>
                      </a:r>
                    </a:p>
                  </a:txBody>
                  <a:tcPr/>
                </a:tc>
                <a:tc>
                  <a:txBody>
                    <a:bodyPr/>
                    <a:lstStyle/>
                    <a:p>
                      <a:r>
                        <a:rPr lang="es-ES" sz="1300" dirty="0">
                          <a:latin typeface="Arial" panose="020B0604020202020204" pitchFamily="34" charset="0"/>
                          <a:cs typeface="Arial" panose="020B0604020202020204" pitchFamily="34" charset="0"/>
                        </a:rPr>
                        <a:t>&gt; 30 µm</a:t>
                      </a:r>
                    </a:p>
                  </a:txBody>
                  <a:tcPr/>
                </a:tc>
                <a:tc>
                  <a:txBody>
                    <a:bodyPr/>
                    <a:lstStyle/>
                    <a:p>
                      <a:r>
                        <a:rPr lang="es-ES" sz="1300" dirty="0">
                          <a:latin typeface="Arial" panose="020B0604020202020204" pitchFamily="34" charset="0"/>
                          <a:cs typeface="Arial" panose="020B0604020202020204" pitchFamily="34" charset="0"/>
                        </a:rPr>
                        <a:t>&gt; 5 µm</a:t>
                      </a:r>
                    </a:p>
                  </a:txBody>
                  <a:tcPr/>
                </a:tc>
                <a:extLst>
                  <a:ext uri="{0D108BD9-81ED-4DB2-BD59-A6C34878D82A}">
                    <a16:rowId xmlns:a16="http://schemas.microsoft.com/office/drawing/2014/main" val="4121462854"/>
                  </a:ext>
                </a:extLst>
              </a:tr>
            </a:tbl>
          </a:graphicData>
        </a:graphic>
      </p:graphicFrame>
    </p:spTree>
    <p:extLst>
      <p:ext uri="{BB962C8B-B14F-4D97-AF65-F5344CB8AC3E}">
        <p14:creationId xmlns:p14="http://schemas.microsoft.com/office/powerpoint/2010/main" val="480201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19</a:t>
            </a:fld>
            <a:endParaRPr lang="es-ES"/>
          </a:p>
        </p:txBody>
      </p:sp>
    </p:spTree>
  </p:cSld>
  <p:clrMapOvr>
    <a:masterClrMapping/>
  </p:clrMapOvr>
</p:sld>
</file>

<file path=ppt/theme/theme1.xml><?xml version="1.0" encoding="utf-8"?>
<a:theme xmlns:a="http://schemas.openxmlformats.org/drawingml/2006/main" name="Gota">
  <a:themeElements>
    <a:clrScheme name="Got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TM04033925[[fn=Gota]]</Template>
  <TotalTime>11209</TotalTime>
  <Words>3228</Words>
  <Application>Microsoft Office PowerPoint</Application>
  <PresentationFormat>Panorámica</PresentationFormat>
  <Paragraphs>220</Paragraphs>
  <Slides>19</Slides>
  <Notes>5</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19</vt:i4>
      </vt:variant>
    </vt:vector>
  </HeadingPairs>
  <TitlesOfParts>
    <vt:vector size="28" baseType="lpstr">
      <vt:lpstr>Aptos</vt:lpstr>
      <vt:lpstr>Arial</vt:lpstr>
      <vt:lpstr>Calibri</vt:lpstr>
      <vt:lpstr>Cambria Math</vt:lpstr>
      <vt:lpstr>Lucida Sans</vt:lpstr>
      <vt:lpstr>Times New Roman</vt:lpstr>
      <vt:lpstr>Tw Cen MT</vt:lpstr>
      <vt:lpstr>Wingdings</vt:lpstr>
      <vt:lpstr>Gota</vt:lpstr>
      <vt:lpstr>Presentación de PowerPoint</vt:lpstr>
      <vt:lpstr>Instructions General</vt:lpstr>
      <vt:lpstr>Learning outcome #1 – Effective index of a waveguide </vt:lpstr>
      <vt:lpstr>Learning outcome #1 – Effective index of a waveguide </vt:lpstr>
      <vt:lpstr>Learning outcome #1 – Effective index of a waveguide</vt:lpstr>
      <vt:lpstr>Learning outcome #1 – Effective index of a waveguide</vt:lpstr>
      <vt:lpstr>Learning outcome #2 – Wavelength behavior Wavelength 1.5-1.6 µm (step 0.01 µm) – width 1.2 µm</vt:lpstr>
      <vt:lpstr>Learning outcome #2 – Wavelength behavior Wavelength 1.5-1.6 µm (step 0.01 µm) – width 1.2 µm</vt:lpstr>
      <vt:lpstr>Learning outcome #3 – Width dependence Width 0.6 - 1.6 µm (step 0.1 µm) – Wavelength 1.55 µm </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#4 – Waveguide compact model - Find the compact models of the following waveguides:  Deep waveguide, h=300nm, w=1.2um   - Shallow waveguide, core h=300nm, slab h=150 nm, w = 1.2um</vt:lpstr>
      <vt:lpstr>Learning outcome #4 – Waveguide compact model - Find the compact models of the following waveguides:  Deep waveguide, h=300nm, w=1.2um   - Shallow waveguide, core h=300nm, slab h=150 nm, w = 1.2um</vt:lpstr>
      <vt:lpstr>Learning outcome #4 – Waveguide compact model - Find the compact models of the following waveguides:  Deep waveguide, h=300nm, w=1.2um   - Shallow waveguide, core h=300nm, slab h=150 nm, w = 1.2um</vt:lpstr>
      <vt:lpstr>Learning outcome #5 – Bend waveguide radius vs. loss – deep Find  neff_TE0 for wvl 1.55 µm, width 1.2 µm for R=25,50,75,100, 125,150 µm </vt:lpstr>
      <vt:lpstr>Learning outcome #5 – Bend waveguide radius vs. loss – deep Find  neff_TE0 for wvl 1.55 µm, width 1.2 µm for R=25,50,75,100, 125,150 µm</vt:lpstr>
      <vt:lpstr>EXTRA – Tecnologia soi: comportamiento espectral y anchura</vt:lpstr>
      <vt:lpstr>EXTRA – Matriz de Comparativa: sinx vs soi (waveguides)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Javier Prieto Llano</cp:lastModifiedBy>
  <cp:revision>30</cp:revision>
  <dcterms:created xsi:type="dcterms:W3CDTF">2025-01-27T02:46:57Z</dcterms:created>
  <dcterms:modified xsi:type="dcterms:W3CDTF">2026-03-12T21:43:34Z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